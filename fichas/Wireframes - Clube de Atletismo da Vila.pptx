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6256000" cy="9144000"/>
  <p:notesSz cx="9144000" cy="16256000"/>
  <p:embeddedFontLst>
    <p:embeddedFont>
      <p:font typeface="IBM Plex Sans" charset="-122" pitchFamily="34"/>
      <p:regular r:id="rId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font" Target="fonts/font1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pa-text-1"/>
          <p:cNvSpPr/>
          <p:nvPr/>
        </p:nvSpPr>
        <p:spPr>
          <a:xfrm>
            <a:off x="1016000" y="1143000"/>
            <a:ext cx="10160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4000" dirty="0">
                <a:solidFill>
                  <a:srgbClr val="22222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Wireframes do Projeto Web</a:t>
            </a:r>
            <a:endParaRPr lang="en-US" sz="4000" dirty="0"/>
          </a:p>
        </p:txBody>
      </p:sp>
      <p:sp>
        <p:nvSpPr>
          <p:cNvPr id="3" name="capa-text-2"/>
          <p:cNvSpPr/>
          <p:nvPr/>
        </p:nvSpPr>
        <p:spPr>
          <a:xfrm>
            <a:off x="1016000" y="2159000"/>
            <a:ext cx="889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000" dirty="0">
                <a:solidFill>
                  <a:srgbClr val="5F66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Guarda uma cópia deste modelo no teu OneDrive e preenche-a no PowerPoint para a web; quando tiveres o repositório dwm-02833, guarda-a lá.</a:t>
            </a:r>
            <a:endParaRPr lang="en-US" sz="2000" dirty="0"/>
          </a:p>
        </p:txBody>
      </p:sp>
      <p:sp>
        <p:nvSpPr>
          <p:cNvPr id="4" name="capa-text-3"/>
          <p:cNvSpPr/>
          <p:nvPr/>
        </p:nvSpPr>
        <p:spPr>
          <a:xfrm>
            <a:off x="1524000" y="3492500"/>
            <a:ext cx="2794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200" dirty="0">
                <a:solidFill>
                  <a:srgbClr val="22222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Nome do projeto:</a:t>
            </a:r>
            <a:endParaRPr lang="en-US" sz="2200" dirty="0"/>
          </a:p>
        </p:txBody>
      </p:sp>
      <p:sp>
        <p:nvSpPr>
          <p:cNvPr id="5" name="capa-shape-4"/>
          <p:cNvSpPr/>
          <p:nvPr/>
        </p:nvSpPr>
        <p:spPr>
          <a:xfrm>
            <a:off x="4572000" y="3835400"/>
            <a:ext cx="8636000" cy="9144"/>
          </a:xfrm>
          <a:prstGeom prst="line">
            <a:avLst/>
          </a:prstGeom>
          <a:ln w="25400">
            <a:solidFill>
              <a:srgbClr val="404040"/>
            </a:solidFill>
            <a:prstDash val="solid"/>
          </a:ln>
        </p:spPr>
        <p:txBody>
          <a:bodyPr/>
          <a:p/>
        </p:txBody>
      </p:sp>
      <p:sp>
        <p:nvSpPr>
          <p:cNvPr id="6" name="capa-text-5"/>
          <p:cNvSpPr/>
          <p:nvPr/>
        </p:nvSpPr>
        <p:spPr>
          <a:xfrm>
            <a:off x="1524000" y="4508500"/>
            <a:ext cx="2794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200" dirty="0">
                <a:solidFill>
                  <a:srgbClr val="22222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Cliente:</a:t>
            </a:r>
            <a:endParaRPr lang="en-US" sz="2200" dirty="0"/>
          </a:p>
        </p:txBody>
      </p:sp>
      <p:sp>
        <p:nvSpPr>
          <p:cNvPr id="7" name="capa-shape-6"/>
          <p:cNvSpPr/>
          <p:nvPr/>
        </p:nvSpPr>
        <p:spPr>
          <a:xfrm>
            <a:off x="4572000" y="4851400"/>
            <a:ext cx="8636000" cy="9144"/>
          </a:xfrm>
          <a:prstGeom prst="line">
            <a:avLst/>
          </a:prstGeom>
          <a:ln w="25400">
            <a:solidFill>
              <a:srgbClr val="404040"/>
            </a:solidFill>
            <a:prstDash val="solid"/>
          </a:ln>
        </p:spPr>
        <p:txBody>
          <a:bodyPr/>
          <a:p/>
        </p:txBody>
      </p:sp>
      <p:sp>
        <p:nvSpPr>
          <p:cNvPr id="8" name="capa-text-7"/>
          <p:cNvSpPr/>
          <p:nvPr/>
        </p:nvSpPr>
        <p:spPr>
          <a:xfrm>
            <a:off x="1524000" y="5524500"/>
            <a:ext cx="2794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200" dirty="0">
                <a:solidFill>
                  <a:srgbClr val="22222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Nomes do par:</a:t>
            </a:r>
            <a:endParaRPr lang="en-US" sz="2200" dirty="0"/>
          </a:p>
        </p:txBody>
      </p:sp>
      <p:sp>
        <p:nvSpPr>
          <p:cNvPr id="9" name="capa-shape-8"/>
          <p:cNvSpPr/>
          <p:nvPr/>
        </p:nvSpPr>
        <p:spPr>
          <a:xfrm>
            <a:off x="4572000" y="5867400"/>
            <a:ext cx="8636000" cy="9144"/>
          </a:xfrm>
          <a:prstGeom prst="line">
            <a:avLst/>
          </a:prstGeom>
          <a:ln w="25400">
            <a:solidFill>
              <a:srgbClr val="404040"/>
            </a:solidFill>
            <a:prstDash val="solid"/>
          </a:ln>
        </p:spPr>
        <p:txBody>
          <a:bodyPr/>
          <a:p/>
        </p:txBody>
      </p:sp>
      <p:sp>
        <p:nvSpPr>
          <p:cNvPr id="10" name="capa-text-9"/>
          <p:cNvSpPr/>
          <p:nvPr/>
        </p:nvSpPr>
        <p:spPr>
          <a:xfrm>
            <a:off x="1016000" y="8572500"/>
            <a:ext cx="12446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100" dirty="0">
                <a:solidFill>
                  <a:srgbClr val="5F66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Desenvolvimento Web e Móvel · UC02833 Conceber aplicações para a web na vertente frontend · Semana 2 · Aula 3 · Modelo</a:t>
            </a:r>
            <a:endParaRPr lang="en-US" sz="1100" dirty="0"/>
          </a:p>
        </p:txBody>
      </p:sp>
      <p:sp>
        <p:nvSpPr>
          <p:cNvPr id="11" name="capa-text-10"/>
          <p:cNvSpPr/>
          <p:nvPr/>
        </p:nvSpPr>
        <p:spPr>
          <a:xfrm>
            <a:off x="14986000" y="8572500"/>
            <a:ext cx="508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altLang="en-US" sz="1100" dirty="0">
                <a:solidFill>
                  <a:srgbClr val="5F66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TextBox 11"/>
          <p:cNvSpPr txBox="1"/>
          <p:nvPr/>
        </p:nvSpPr>
        <p:spPr>
          <a:xfrm>
            <a:off x="4572000" y="3493008"/>
            <a:ext cx="8595360" cy="384048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1600" b="0">
                <a:solidFill>
                  <a:srgbClr val="404040"/>
                </a:solidFill>
                <a:latin typeface="Calibri"/>
              </a:rPr>
              <a:t>Corre connosco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4507992"/>
            <a:ext cx="8595360" cy="384048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1600" b="0">
                <a:solidFill>
                  <a:srgbClr val="404040"/>
                </a:solidFill>
                <a:latin typeface="Calibri"/>
              </a:rPr>
              <a:t>Clube de Atletismo da Vila (cliente fictício)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5522976"/>
            <a:ext cx="8595360" cy="384048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1600" b="0">
                <a:solidFill>
                  <a:srgbClr val="404040"/>
                </a:solidFill>
                <a:latin typeface="Calibri"/>
              </a:rPr>
              <a:t>Exemplo resolvido pelo professor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mo_usar-text-1"/>
          <p:cNvSpPr/>
          <p:nvPr/>
        </p:nvSpPr>
        <p:spPr>
          <a:xfrm>
            <a:off x="1016000" y="698500"/>
            <a:ext cx="1016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3000" dirty="0">
                <a:solidFill>
                  <a:srgbClr val="22222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Como usar este modelo</a:t>
            </a:r>
            <a:endParaRPr lang="en-US" sz="3000" dirty="0"/>
          </a:p>
        </p:txBody>
      </p:sp>
      <p:sp>
        <p:nvSpPr>
          <p:cNvPr id="3" name="como_usar-text-2"/>
          <p:cNvSpPr/>
          <p:nvPr/>
        </p:nvSpPr>
        <p:spPr>
          <a:xfrm>
            <a:off x="1270000" y="1778000"/>
            <a:ext cx="13462000" cy="546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65125" indent="-365125">
              <a:lnSpc>
                <a:spcPts val="3565"/>
              </a:lnSpc>
              <a:spcBef>
                <a:spcPts val="10"/>
              </a:spcBef>
              <a:buSzPct val="100000"/>
              <a:buFont typeface="+mj-lt"/>
              <a:buAutoNum type="arabicPeriod" startAt="1"/>
            </a:pPr>
            <a:r>
              <a:rPr lang="en-US" altLang="en-US" sz="2300" dirty="0">
                <a:solidFill>
                  <a:srgbClr val="22222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As peças estão no diapositivo 3: copia (Ctrl+C) e cola (Ctrl+V) dentro das molduras.</a:t>
            </a:r>
            <a:endParaRPr lang="en-US" sz="2300" dirty="0"/>
          </a:p>
          <a:p>
            <a:pPr algn="l" marL="365125" indent="-365125">
              <a:lnSpc>
                <a:spcPts val="3565"/>
              </a:lnSpc>
              <a:spcBef>
                <a:spcPts val="10"/>
              </a:spcBef>
              <a:buSzPct val="100000"/>
              <a:buFont typeface="+mj-lt"/>
              <a:buAutoNum type="arabicPeriod" startAt="2"/>
            </a:pPr>
            <a:r>
              <a:rPr lang="en-US" altLang="en-US" sz="2300" dirty="0">
                <a:solidFill>
                  <a:srgbClr val="22222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Uma página do mapa do site por diapositivo; escreve o nome da página no título.</a:t>
            </a:r>
            <a:endParaRPr lang="en-US" sz="2300" dirty="0"/>
          </a:p>
          <a:p>
            <a:pPr algn="l" marL="365125" indent="-365125">
              <a:lnSpc>
                <a:spcPts val="3565"/>
              </a:lnSpc>
              <a:spcBef>
                <a:spcPts val="10"/>
              </a:spcBef>
              <a:buSzPct val="100000"/>
              <a:buFont typeface="+mj-lt"/>
              <a:buAutoNum type="arabicPeriod" startAt="3"/>
            </a:pPr>
            <a:r>
              <a:rPr lang="en-US" altLang="en-US" sz="2300" dirty="0">
                <a:solidFill>
                  <a:srgbClr val="22222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Primeiro o telemóvel, depois o computador (mobile first).</a:t>
            </a:r>
            <a:endParaRPr lang="en-US" sz="2300" dirty="0"/>
          </a:p>
          <a:p>
            <a:pPr algn="l" marL="365125" indent="-365125">
              <a:lnSpc>
                <a:spcPts val="3565"/>
              </a:lnSpc>
              <a:spcBef>
                <a:spcPts val="10"/>
              </a:spcBef>
              <a:buSzPct val="100000"/>
              <a:buFont typeface="+mj-lt"/>
              <a:buAutoNum type="arabicPeriod" startAt="4"/>
            </a:pPr>
            <a:r>
              <a:rPr lang="en-US" altLang="en-US" sz="2300" dirty="0">
                <a:solidFill>
                  <a:srgbClr val="22222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Só cinzentos, sem fotografias: é baixa fidelidade.</a:t>
            </a:r>
            <a:endParaRPr lang="en-US" sz="2300" dirty="0"/>
          </a:p>
          <a:p>
            <a:pPr algn="l" marL="365125" indent="-365125">
              <a:lnSpc>
                <a:spcPts val="3565"/>
              </a:lnSpc>
              <a:spcBef>
                <a:spcPts val="10"/>
              </a:spcBef>
              <a:buSzPct val="100000"/>
              <a:buFont typeface="+mj-lt"/>
              <a:buAutoNum type="arabicPeriod" startAt="5"/>
            </a:pPr>
            <a:r>
              <a:rPr lang="en-US" altLang="en-US" sz="2300" dirty="0">
                <a:solidFill>
                  <a:srgbClr val="22222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 o teu mapa tem menos de 6 páginas, apaga os diapositivos a mais; o diapositivo 4 é só um exemplo e também se apaga antes de entregar.</a:t>
            </a:r>
            <a:endParaRPr lang="en-US" sz="2300" dirty="0"/>
          </a:p>
          <a:p>
            <a:pPr algn="l" marL="365125" indent="-365125">
              <a:lnSpc>
                <a:spcPts val="3565"/>
              </a:lnSpc>
              <a:spcBef>
                <a:spcPts val="10"/>
              </a:spcBef>
              <a:buSzPct val="100000"/>
              <a:buFont typeface="+mj-lt"/>
              <a:buAutoNum type="arabicPeriod" startAt="6"/>
            </a:pPr>
            <a:r>
              <a:rPr lang="en-US" altLang="en-US" sz="2300" dirty="0">
                <a:solidFill>
                  <a:srgbClr val="22222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 PowerPoint para a web guarda sozinho no OneDrive; a entrega é guardar o modelo no repositório dwm-02833 (commit e push).</a:t>
            </a:r>
            <a:endParaRPr lang="en-US" sz="2300" dirty="0"/>
          </a:p>
        </p:txBody>
      </p:sp>
      <p:sp>
        <p:nvSpPr>
          <p:cNvPr id="4" name="como_usar-text-3"/>
          <p:cNvSpPr/>
          <p:nvPr/>
        </p:nvSpPr>
        <p:spPr>
          <a:xfrm>
            <a:off x="1016000" y="8572500"/>
            <a:ext cx="12446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100" dirty="0">
                <a:solidFill>
                  <a:srgbClr val="5F66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Desenvolvimento Web e Móvel · UC02833 Conceber aplicações para a web na vertente frontend · Semana 2 · Aula 3 · Modelo</a:t>
            </a:r>
            <a:endParaRPr lang="en-US" sz="1100" dirty="0"/>
          </a:p>
        </p:txBody>
      </p:sp>
      <p:sp>
        <p:nvSpPr>
          <p:cNvPr id="5" name="como_usar-text-4"/>
          <p:cNvSpPr/>
          <p:nvPr/>
        </p:nvSpPr>
        <p:spPr>
          <a:xfrm>
            <a:off x="14986000" y="8572500"/>
            <a:ext cx="508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altLang="en-US" sz="1100" dirty="0">
                <a:solidFill>
                  <a:srgbClr val="5F66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ecas-text-1"/>
          <p:cNvSpPr/>
          <p:nvPr/>
        </p:nvSpPr>
        <p:spPr>
          <a:xfrm>
            <a:off x="1016000" y="571500"/>
            <a:ext cx="1016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3000" dirty="0">
                <a:solidFill>
                  <a:srgbClr val="22222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Peças para copiar</a:t>
            </a:r>
            <a:endParaRPr lang="en-US" sz="3000" dirty="0"/>
          </a:p>
        </p:txBody>
      </p:sp>
      <p:sp>
        <p:nvSpPr>
          <p:cNvPr id="3" name="pecas-text-2"/>
          <p:cNvSpPr/>
          <p:nvPr/>
        </p:nvSpPr>
        <p:spPr>
          <a:xfrm>
            <a:off x="1016000" y="1143000"/>
            <a:ext cx="10160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5F66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Copia cada peça e cola-a dentro das molduras dos diapositivos seguintes.</a:t>
            </a:r>
            <a:endParaRPr lang="en-US" sz="1400" dirty="0"/>
          </a:p>
        </p:txBody>
      </p:sp>
      <p:sp>
        <p:nvSpPr>
          <p:cNvPr id="4" name="pecas-shape-3"/>
          <p:cNvSpPr/>
          <p:nvPr/>
        </p:nvSpPr>
        <p:spPr>
          <a:xfrm>
            <a:off x="889000" y="1778000"/>
            <a:ext cx="3048000" cy="571500"/>
          </a:xfrm>
          <a:prstGeom prst="rect">
            <a:avLst/>
          </a:prstGeom>
          <a:solidFill>
            <a:srgbClr val="E6E6E6"/>
          </a:solidFill>
          <a:ln w="12700">
            <a:solidFill>
              <a:srgbClr val="8C8C8C"/>
            </a:solidFill>
            <a:prstDash val="solid"/>
          </a:ln>
        </p:spPr>
        <p:txBody>
          <a:bodyPr/>
          <a:p/>
        </p:txBody>
      </p:sp>
      <p:sp>
        <p:nvSpPr>
          <p:cNvPr id="5" name="pecas-text-4"/>
          <p:cNvSpPr/>
          <p:nvPr/>
        </p:nvSpPr>
        <p:spPr>
          <a:xfrm>
            <a:off x="889000" y="1905000"/>
            <a:ext cx="3048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1500" dirty="0">
                <a:solidFill>
                  <a:srgbClr val="4040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Cabeçalho</a:t>
            </a:r>
            <a:endParaRPr lang="en-US" sz="1500" dirty="0"/>
          </a:p>
        </p:txBody>
      </p:sp>
      <p:sp>
        <p:nvSpPr>
          <p:cNvPr id="6" name="pecas-shape-5"/>
          <p:cNvSpPr/>
          <p:nvPr/>
        </p:nvSpPr>
        <p:spPr>
          <a:xfrm>
            <a:off x="4445000" y="1841500"/>
            <a:ext cx="1270000" cy="444500"/>
          </a:xfrm>
          <a:prstGeom prst="rect">
            <a:avLst/>
          </a:prstGeom>
          <a:solidFill>
            <a:srgbClr val="FFFFFF"/>
          </a:solidFill>
          <a:ln w="12700">
            <a:solidFill>
              <a:srgbClr val="8C8C8C"/>
            </a:solidFill>
            <a:prstDash val="solid"/>
          </a:ln>
        </p:spPr>
        <p:txBody>
          <a:bodyPr/>
          <a:p/>
        </p:txBody>
      </p:sp>
      <p:sp>
        <p:nvSpPr>
          <p:cNvPr id="7" name="pecas-text-6"/>
          <p:cNvSpPr/>
          <p:nvPr/>
        </p:nvSpPr>
        <p:spPr>
          <a:xfrm>
            <a:off x="4445000" y="1943100"/>
            <a:ext cx="127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1300" dirty="0">
                <a:solidFill>
                  <a:srgbClr val="4040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Logótipo</a:t>
            </a:r>
            <a:endParaRPr lang="en-US" sz="1300" dirty="0"/>
          </a:p>
        </p:txBody>
      </p:sp>
      <p:sp>
        <p:nvSpPr>
          <p:cNvPr id="8" name="pecas-text-7"/>
          <p:cNvSpPr/>
          <p:nvPr/>
        </p:nvSpPr>
        <p:spPr>
          <a:xfrm>
            <a:off x="6350000" y="1930400"/>
            <a:ext cx="4191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500" dirty="0">
                <a:solidFill>
                  <a:srgbClr val="4040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Início · Sobre · Contactos</a:t>
            </a:r>
            <a:endParaRPr lang="en-US" sz="1500" dirty="0"/>
          </a:p>
        </p:txBody>
      </p:sp>
      <p:sp>
        <p:nvSpPr>
          <p:cNvPr id="9" name="pecas-text-8"/>
          <p:cNvSpPr/>
          <p:nvPr/>
        </p:nvSpPr>
        <p:spPr>
          <a:xfrm>
            <a:off x="6350000" y="2413000"/>
            <a:ext cx="4191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200" dirty="0">
                <a:solidFill>
                  <a:srgbClr val="5F66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Menu (computador)</a:t>
            </a:r>
            <a:endParaRPr lang="en-US" sz="1200" dirty="0"/>
          </a:p>
        </p:txBody>
      </p:sp>
      <p:sp>
        <p:nvSpPr>
          <p:cNvPr id="10" name="pecas-shape-9"/>
          <p:cNvSpPr/>
          <p:nvPr/>
        </p:nvSpPr>
        <p:spPr>
          <a:xfrm>
            <a:off x="11176000" y="1778000"/>
            <a:ext cx="533400" cy="53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8C8C8C"/>
            </a:solidFill>
            <a:prstDash val="solid"/>
          </a:ln>
        </p:spPr>
        <p:txBody>
          <a:bodyPr/>
          <a:p/>
        </p:txBody>
      </p:sp>
      <p:sp>
        <p:nvSpPr>
          <p:cNvPr id="11" name="pecas-shape-10"/>
          <p:cNvSpPr/>
          <p:nvPr/>
        </p:nvSpPr>
        <p:spPr>
          <a:xfrm>
            <a:off x="11290300" y="1905000"/>
            <a:ext cx="304800" cy="50800"/>
          </a:xfrm>
          <a:prstGeom prst="rect">
            <a:avLst/>
          </a:prstGeom>
          <a:solidFill>
            <a:srgbClr val="404040"/>
          </a:solidFill>
          <a:ln/>
        </p:spPr>
        <p:txBody>
          <a:bodyPr/>
          <a:p/>
        </p:txBody>
      </p:sp>
      <p:sp>
        <p:nvSpPr>
          <p:cNvPr id="12" name="pecas-shape-11"/>
          <p:cNvSpPr/>
          <p:nvPr/>
        </p:nvSpPr>
        <p:spPr>
          <a:xfrm>
            <a:off x="11290300" y="2032000"/>
            <a:ext cx="304800" cy="50800"/>
          </a:xfrm>
          <a:prstGeom prst="rect">
            <a:avLst/>
          </a:prstGeom>
          <a:solidFill>
            <a:srgbClr val="404040"/>
          </a:solidFill>
          <a:ln/>
        </p:spPr>
        <p:txBody>
          <a:bodyPr/>
          <a:p/>
        </p:txBody>
      </p:sp>
      <p:sp>
        <p:nvSpPr>
          <p:cNvPr id="13" name="pecas-shape-12"/>
          <p:cNvSpPr/>
          <p:nvPr/>
        </p:nvSpPr>
        <p:spPr>
          <a:xfrm>
            <a:off x="11290300" y="2159000"/>
            <a:ext cx="304800" cy="50800"/>
          </a:xfrm>
          <a:prstGeom prst="rect">
            <a:avLst/>
          </a:prstGeom>
          <a:solidFill>
            <a:srgbClr val="404040"/>
          </a:solidFill>
          <a:ln/>
        </p:spPr>
        <p:txBody>
          <a:bodyPr/>
          <a:p/>
        </p:txBody>
      </p:sp>
      <p:sp>
        <p:nvSpPr>
          <p:cNvPr id="14" name="pecas-text-13"/>
          <p:cNvSpPr/>
          <p:nvPr/>
        </p:nvSpPr>
        <p:spPr>
          <a:xfrm>
            <a:off x="10795000" y="2413000"/>
            <a:ext cx="152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1200" dirty="0">
                <a:solidFill>
                  <a:srgbClr val="5F66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Menu ☰</a:t>
            </a:r>
            <a:endParaRPr lang="en-US" sz="1200" dirty="0"/>
          </a:p>
        </p:txBody>
      </p:sp>
      <p:sp>
        <p:nvSpPr>
          <p:cNvPr id="15" name="pecas-shape-14"/>
          <p:cNvSpPr/>
          <p:nvPr/>
        </p:nvSpPr>
        <p:spPr>
          <a:xfrm>
            <a:off x="889000" y="3048000"/>
            <a:ext cx="3048000" cy="1270000"/>
          </a:xfrm>
          <a:prstGeom prst="rect">
            <a:avLst/>
          </a:prstGeom>
          <a:solidFill>
            <a:srgbClr val="E6E6E6"/>
          </a:solidFill>
          <a:ln w="12700">
            <a:solidFill>
              <a:srgbClr val="8C8C8C"/>
            </a:solidFill>
            <a:prstDash val="solid"/>
          </a:ln>
        </p:spPr>
        <p:txBody>
          <a:bodyPr/>
          <a:p/>
        </p:txBody>
      </p:sp>
      <p:sp>
        <p:nvSpPr>
          <p:cNvPr id="16" name="pecas-text-15"/>
          <p:cNvSpPr/>
          <p:nvPr/>
        </p:nvSpPr>
        <p:spPr>
          <a:xfrm>
            <a:off x="889000" y="3556000"/>
            <a:ext cx="3048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1500" dirty="0">
                <a:solidFill>
                  <a:srgbClr val="4040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Destaque</a:t>
            </a:r>
            <a:endParaRPr lang="en-US" sz="1500" dirty="0"/>
          </a:p>
        </p:txBody>
      </p:sp>
      <p:sp>
        <p:nvSpPr>
          <p:cNvPr id="17" name="pecas-shape-16"/>
          <p:cNvSpPr/>
          <p:nvPr/>
        </p:nvSpPr>
        <p:spPr>
          <a:xfrm>
            <a:off x="4445000" y="3048000"/>
            <a:ext cx="1905000" cy="101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8C8C8C"/>
            </a:solidFill>
            <a:prstDash val="solid"/>
          </a:ln>
        </p:spPr>
        <p:txBody>
          <a:bodyPr/>
          <a:p/>
        </p:txBody>
      </p:sp>
      <p:sp>
        <p:nvSpPr>
          <p:cNvPr id="18" name="pecas-shape-17"/>
          <p:cNvSpPr/>
          <p:nvPr/>
        </p:nvSpPr>
        <p:spPr>
          <a:xfrm>
            <a:off x="4445000" y="3048000"/>
            <a:ext cx="1905000" cy="1016000"/>
          </a:xfrm>
          <a:prstGeom prst="line">
            <a:avLst/>
          </a:prstGeom>
          <a:ln w="12700">
            <a:solidFill>
              <a:srgbClr val="8C8C8C"/>
            </a:solidFill>
            <a:prstDash val="solid"/>
          </a:ln>
        </p:spPr>
        <p:txBody>
          <a:bodyPr/>
          <a:p/>
        </p:txBody>
      </p:sp>
      <p:sp>
        <p:nvSpPr>
          <p:cNvPr id="19" name="pecas-shape-18"/>
          <p:cNvSpPr/>
          <p:nvPr/>
        </p:nvSpPr>
        <p:spPr>
          <a:xfrm flipV="1">
            <a:off x="4445000" y="3048000"/>
            <a:ext cx="1905000" cy="1016000"/>
          </a:xfrm>
          <a:prstGeom prst="line">
            <a:avLst/>
          </a:prstGeom>
          <a:ln w="12700">
            <a:solidFill>
              <a:srgbClr val="8C8C8C"/>
            </a:solidFill>
            <a:prstDash val="solid"/>
          </a:ln>
        </p:spPr>
        <p:txBody>
          <a:bodyPr/>
          <a:p/>
        </p:txBody>
      </p:sp>
      <p:sp>
        <p:nvSpPr>
          <p:cNvPr id="20" name="pecas-text-19"/>
          <p:cNvSpPr/>
          <p:nvPr/>
        </p:nvSpPr>
        <p:spPr>
          <a:xfrm>
            <a:off x="4445000" y="4191000"/>
            <a:ext cx="190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1200" dirty="0">
                <a:solidFill>
                  <a:srgbClr val="5F66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Imagem</a:t>
            </a:r>
            <a:endParaRPr lang="en-US" sz="1200" dirty="0"/>
          </a:p>
        </p:txBody>
      </p:sp>
      <p:sp>
        <p:nvSpPr>
          <p:cNvPr id="21" name="pecas-text-20"/>
          <p:cNvSpPr/>
          <p:nvPr/>
        </p:nvSpPr>
        <p:spPr>
          <a:xfrm>
            <a:off x="6985000" y="3238500"/>
            <a:ext cx="228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200" dirty="0">
                <a:solidFill>
                  <a:srgbClr val="4040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Título</a:t>
            </a:r>
            <a:endParaRPr lang="en-US" sz="2200" dirty="0"/>
          </a:p>
        </p:txBody>
      </p:sp>
      <p:sp>
        <p:nvSpPr>
          <p:cNvPr id="22" name="pecas-text-21"/>
          <p:cNvSpPr/>
          <p:nvPr/>
        </p:nvSpPr>
        <p:spPr>
          <a:xfrm>
            <a:off x="6985000" y="39370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1200" dirty="0">
                <a:solidFill>
                  <a:srgbClr val="5F66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Título</a:t>
            </a:r>
            <a:endParaRPr lang="en-US" sz="1200" dirty="0"/>
          </a:p>
        </p:txBody>
      </p:sp>
      <p:sp>
        <p:nvSpPr>
          <p:cNvPr id="23" name="pecas-shape-22"/>
          <p:cNvSpPr/>
          <p:nvPr/>
        </p:nvSpPr>
        <p:spPr>
          <a:xfrm>
            <a:off x="9525000" y="3048000"/>
            <a:ext cx="2286000" cy="127000"/>
          </a:xfrm>
          <a:prstGeom prst="rect">
            <a:avLst/>
          </a:prstGeom>
          <a:solidFill>
            <a:srgbClr val="BFBFBF"/>
          </a:solidFill>
          <a:ln/>
        </p:spPr>
        <p:txBody>
          <a:bodyPr/>
          <a:p/>
        </p:txBody>
      </p:sp>
      <p:sp>
        <p:nvSpPr>
          <p:cNvPr id="24" name="pecas-shape-23"/>
          <p:cNvSpPr/>
          <p:nvPr/>
        </p:nvSpPr>
        <p:spPr>
          <a:xfrm>
            <a:off x="9525000" y="3302000"/>
            <a:ext cx="2286000" cy="127000"/>
          </a:xfrm>
          <a:prstGeom prst="rect">
            <a:avLst/>
          </a:prstGeom>
          <a:solidFill>
            <a:srgbClr val="BFBFBF"/>
          </a:solidFill>
          <a:ln/>
        </p:spPr>
        <p:txBody>
          <a:bodyPr/>
          <a:p/>
        </p:txBody>
      </p:sp>
      <p:sp>
        <p:nvSpPr>
          <p:cNvPr id="25" name="pecas-shape-24"/>
          <p:cNvSpPr/>
          <p:nvPr/>
        </p:nvSpPr>
        <p:spPr>
          <a:xfrm>
            <a:off x="9525000" y="3556000"/>
            <a:ext cx="2286000" cy="127000"/>
          </a:xfrm>
          <a:prstGeom prst="rect">
            <a:avLst/>
          </a:prstGeom>
          <a:solidFill>
            <a:srgbClr val="BFBFBF"/>
          </a:solidFill>
          <a:ln/>
        </p:spPr>
        <p:txBody>
          <a:bodyPr/>
          <a:p/>
        </p:txBody>
      </p:sp>
      <p:sp>
        <p:nvSpPr>
          <p:cNvPr id="26" name="pecas-text-25"/>
          <p:cNvSpPr/>
          <p:nvPr/>
        </p:nvSpPr>
        <p:spPr>
          <a:xfrm>
            <a:off x="9525000" y="39370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1200" dirty="0">
                <a:solidFill>
                  <a:srgbClr val="5F66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Texto</a:t>
            </a:r>
            <a:endParaRPr lang="en-US" sz="1200" dirty="0"/>
          </a:p>
        </p:txBody>
      </p:sp>
      <p:sp>
        <p:nvSpPr>
          <p:cNvPr id="27" name="pecas-shape-26"/>
          <p:cNvSpPr/>
          <p:nvPr/>
        </p:nvSpPr>
        <p:spPr>
          <a:xfrm>
            <a:off x="12446000" y="3048000"/>
            <a:ext cx="1778000" cy="533400"/>
          </a:xfrm>
          <a:prstGeom prst="roundRect">
            <a:avLst>
              <a:gd name="adj" fmla="val 42857"/>
            </a:avLst>
          </a:prstGeom>
          <a:solidFill>
            <a:srgbClr val="FFFFFF"/>
          </a:solidFill>
          <a:ln w="25400">
            <a:solidFill>
              <a:srgbClr val="404040"/>
            </a:solidFill>
            <a:prstDash val="solid"/>
          </a:ln>
        </p:spPr>
        <p:txBody>
          <a:bodyPr/>
          <a:p/>
        </p:txBody>
      </p:sp>
      <p:sp>
        <p:nvSpPr>
          <p:cNvPr id="28" name="pecas-text-27"/>
          <p:cNvSpPr/>
          <p:nvPr/>
        </p:nvSpPr>
        <p:spPr>
          <a:xfrm>
            <a:off x="12446000" y="3175000"/>
            <a:ext cx="1778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1400" dirty="0">
                <a:solidFill>
                  <a:srgbClr val="4040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Botão</a:t>
            </a:r>
            <a:endParaRPr lang="en-US" sz="1400" dirty="0"/>
          </a:p>
        </p:txBody>
      </p:sp>
      <p:sp>
        <p:nvSpPr>
          <p:cNvPr id="29" name="pecas-text-28"/>
          <p:cNvSpPr/>
          <p:nvPr/>
        </p:nvSpPr>
        <p:spPr>
          <a:xfrm>
            <a:off x="12446000" y="3810000"/>
            <a:ext cx="177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1200" dirty="0">
                <a:solidFill>
                  <a:srgbClr val="5F66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Botão</a:t>
            </a:r>
            <a:endParaRPr lang="en-US" sz="1200" dirty="0"/>
          </a:p>
        </p:txBody>
      </p:sp>
      <p:sp>
        <p:nvSpPr>
          <p:cNvPr id="30" name="pecas-shape-29"/>
          <p:cNvSpPr/>
          <p:nvPr/>
        </p:nvSpPr>
        <p:spPr>
          <a:xfrm>
            <a:off x="889000" y="5207000"/>
            <a:ext cx="2667000" cy="1524000"/>
          </a:xfrm>
          <a:prstGeom prst="rect">
            <a:avLst/>
          </a:prstGeom>
          <a:solidFill>
            <a:srgbClr val="E6E6E6"/>
          </a:solidFill>
          <a:ln w="12700">
            <a:solidFill>
              <a:srgbClr val="8C8C8C"/>
            </a:solidFill>
            <a:prstDash val="solid"/>
          </a:ln>
        </p:spPr>
        <p:txBody>
          <a:bodyPr/>
          <a:p/>
        </p:txBody>
      </p:sp>
      <p:sp>
        <p:nvSpPr>
          <p:cNvPr id="31" name="pecas-text-30"/>
          <p:cNvSpPr/>
          <p:nvPr/>
        </p:nvSpPr>
        <p:spPr>
          <a:xfrm>
            <a:off x="1079500" y="5397500"/>
            <a:ext cx="2286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500" dirty="0">
                <a:solidFill>
                  <a:srgbClr val="4040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Cartão</a:t>
            </a:r>
            <a:endParaRPr lang="en-US" sz="1500" dirty="0"/>
          </a:p>
        </p:txBody>
      </p:sp>
      <p:sp>
        <p:nvSpPr>
          <p:cNvPr id="32" name="pecas-shape-31"/>
          <p:cNvSpPr/>
          <p:nvPr/>
        </p:nvSpPr>
        <p:spPr>
          <a:xfrm>
            <a:off x="1079500" y="5842000"/>
            <a:ext cx="1651000" cy="101600"/>
          </a:xfrm>
          <a:prstGeom prst="rect">
            <a:avLst/>
          </a:prstGeom>
          <a:solidFill>
            <a:srgbClr val="BFBFBF"/>
          </a:solidFill>
          <a:ln/>
        </p:spPr>
        <p:txBody>
          <a:bodyPr/>
          <a:p/>
        </p:txBody>
      </p:sp>
      <p:sp>
        <p:nvSpPr>
          <p:cNvPr id="33" name="pecas-shape-32"/>
          <p:cNvSpPr/>
          <p:nvPr/>
        </p:nvSpPr>
        <p:spPr>
          <a:xfrm>
            <a:off x="1079500" y="6057900"/>
            <a:ext cx="1651000" cy="101600"/>
          </a:xfrm>
          <a:prstGeom prst="rect">
            <a:avLst/>
          </a:prstGeom>
          <a:solidFill>
            <a:srgbClr val="BFBFBF"/>
          </a:solidFill>
          <a:ln/>
        </p:spPr>
        <p:txBody>
          <a:bodyPr/>
          <a:p/>
        </p:txBody>
      </p:sp>
      <p:sp>
        <p:nvSpPr>
          <p:cNvPr id="34" name="pecas-shape-33"/>
          <p:cNvSpPr/>
          <p:nvPr/>
        </p:nvSpPr>
        <p:spPr>
          <a:xfrm>
            <a:off x="1079500" y="6324600"/>
            <a:ext cx="1143000" cy="254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404040"/>
            </a:solidFill>
            <a:prstDash val="solid"/>
          </a:ln>
        </p:spPr>
        <p:txBody>
          <a:bodyPr/>
          <a:p/>
        </p:txBody>
      </p:sp>
      <p:sp>
        <p:nvSpPr>
          <p:cNvPr id="35" name="pecas-text-34"/>
          <p:cNvSpPr/>
          <p:nvPr/>
        </p:nvSpPr>
        <p:spPr>
          <a:xfrm>
            <a:off x="889000" y="6921500"/>
            <a:ext cx="2667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1200" dirty="0">
                <a:solidFill>
                  <a:srgbClr val="5F66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Cartão</a:t>
            </a:r>
            <a:endParaRPr lang="en-US" sz="1200" dirty="0"/>
          </a:p>
        </p:txBody>
      </p:sp>
      <p:sp>
        <p:nvSpPr>
          <p:cNvPr id="36" name="pecas-shape-35"/>
          <p:cNvSpPr/>
          <p:nvPr/>
        </p:nvSpPr>
        <p:spPr>
          <a:xfrm>
            <a:off x="4191000" y="5207000"/>
            <a:ext cx="2921000" cy="139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8C8C8C"/>
            </a:solidFill>
            <a:prstDash val="solid"/>
          </a:ln>
        </p:spPr>
        <p:txBody>
          <a:bodyPr/>
          <a:p/>
        </p:txBody>
      </p:sp>
      <p:sp>
        <p:nvSpPr>
          <p:cNvPr id="37" name="pecas-text-36"/>
          <p:cNvSpPr/>
          <p:nvPr/>
        </p:nvSpPr>
        <p:spPr>
          <a:xfrm>
            <a:off x="4191000" y="5270500"/>
            <a:ext cx="2921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1200" dirty="0">
                <a:solidFill>
                  <a:srgbClr val="4040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Coluna 1 · Coluna 2 · Coluna 3</a:t>
            </a:r>
            <a:endParaRPr lang="en-US" sz="1200" dirty="0"/>
          </a:p>
        </p:txBody>
      </p:sp>
      <p:sp>
        <p:nvSpPr>
          <p:cNvPr id="38" name="pecas-shape-37"/>
          <p:cNvSpPr/>
          <p:nvPr/>
        </p:nvSpPr>
        <p:spPr>
          <a:xfrm>
            <a:off x="4191000" y="5651500"/>
            <a:ext cx="2921000" cy="9144"/>
          </a:xfrm>
          <a:prstGeom prst="line">
            <a:avLst/>
          </a:prstGeom>
          <a:ln w="12700">
            <a:solidFill>
              <a:srgbClr val="8C8C8C"/>
            </a:solidFill>
            <a:prstDash val="solid"/>
          </a:ln>
        </p:spPr>
        <p:txBody>
          <a:bodyPr/>
          <a:p/>
        </p:txBody>
      </p:sp>
      <p:sp>
        <p:nvSpPr>
          <p:cNvPr id="39" name="pecas-shape-38"/>
          <p:cNvSpPr/>
          <p:nvPr/>
        </p:nvSpPr>
        <p:spPr>
          <a:xfrm>
            <a:off x="4191000" y="6096000"/>
            <a:ext cx="2921000" cy="9144"/>
          </a:xfrm>
          <a:prstGeom prst="line">
            <a:avLst/>
          </a:prstGeom>
          <a:ln w="12700">
            <a:solidFill>
              <a:srgbClr val="8C8C8C"/>
            </a:solidFill>
            <a:prstDash val="solid"/>
          </a:ln>
        </p:spPr>
        <p:txBody>
          <a:bodyPr/>
          <a:p/>
        </p:txBody>
      </p:sp>
      <p:sp>
        <p:nvSpPr>
          <p:cNvPr id="40" name="pecas-shape-39"/>
          <p:cNvSpPr/>
          <p:nvPr/>
        </p:nvSpPr>
        <p:spPr>
          <a:xfrm>
            <a:off x="5168900" y="5207000"/>
            <a:ext cx="9144" cy="1397000"/>
          </a:xfrm>
          <a:prstGeom prst="line">
            <a:avLst/>
          </a:prstGeom>
          <a:ln w="12700">
            <a:solidFill>
              <a:srgbClr val="8C8C8C"/>
            </a:solidFill>
            <a:prstDash val="solid"/>
          </a:ln>
        </p:spPr>
        <p:txBody>
          <a:bodyPr/>
          <a:p/>
        </p:txBody>
      </p:sp>
      <p:sp>
        <p:nvSpPr>
          <p:cNvPr id="41" name="pecas-shape-40"/>
          <p:cNvSpPr/>
          <p:nvPr/>
        </p:nvSpPr>
        <p:spPr>
          <a:xfrm>
            <a:off x="6146800" y="5207000"/>
            <a:ext cx="9144" cy="1397000"/>
          </a:xfrm>
          <a:prstGeom prst="line">
            <a:avLst/>
          </a:prstGeom>
          <a:ln w="12700">
            <a:solidFill>
              <a:srgbClr val="8C8C8C"/>
            </a:solidFill>
            <a:prstDash val="solid"/>
          </a:ln>
        </p:spPr>
        <p:txBody>
          <a:bodyPr/>
          <a:p/>
        </p:txBody>
      </p:sp>
      <p:sp>
        <p:nvSpPr>
          <p:cNvPr id="42" name="pecas-text-41"/>
          <p:cNvSpPr/>
          <p:nvPr/>
        </p:nvSpPr>
        <p:spPr>
          <a:xfrm>
            <a:off x="4191000" y="6794500"/>
            <a:ext cx="2921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1200" dirty="0">
                <a:solidFill>
                  <a:srgbClr val="5F66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Tabela</a:t>
            </a:r>
            <a:endParaRPr lang="en-US" sz="1200" dirty="0"/>
          </a:p>
        </p:txBody>
      </p:sp>
      <p:sp>
        <p:nvSpPr>
          <p:cNvPr id="43" name="pecas-text-42"/>
          <p:cNvSpPr/>
          <p:nvPr/>
        </p:nvSpPr>
        <p:spPr>
          <a:xfrm>
            <a:off x="7874000" y="5461000"/>
            <a:ext cx="1397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4040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Nome</a:t>
            </a:r>
            <a:endParaRPr lang="en-US" sz="1400" dirty="0"/>
          </a:p>
        </p:txBody>
      </p:sp>
      <p:sp>
        <p:nvSpPr>
          <p:cNvPr id="44" name="pecas-shape-43"/>
          <p:cNvSpPr/>
          <p:nvPr/>
        </p:nvSpPr>
        <p:spPr>
          <a:xfrm>
            <a:off x="8890000" y="5334000"/>
            <a:ext cx="2540000" cy="444500"/>
          </a:xfrm>
          <a:prstGeom prst="rect">
            <a:avLst/>
          </a:prstGeom>
          <a:solidFill>
            <a:srgbClr val="FFFFFF"/>
          </a:solidFill>
          <a:ln w="12700">
            <a:solidFill>
              <a:srgbClr val="8C8C8C"/>
            </a:solidFill>
            <a:prstDash val="solid"/>
          </a:ln>
        </p:spPr>
        <p:txBody>
          <a:bodyPr/>
          <a:p/>
        </p:txBody>
      </p:sp>
      <p:sp>
        <p:nvSpPr>
          <p:cNvPr id="45" name="pecas-text-44"/>
          <p:cNvSpPr/>
          <p:nvPr/>
        </p:nvSpPr>
        <p:spPr>
          <a:xfrm>
            <a:off x="8890000" y="5969000"/>
            <a:ext cx="254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1200" dirty="0">
                <a:solidFill>
                  <a:srgbClr val="5F66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Campo</a:t>
            </a:r>
            <a:endParaRPr lang="en-US" sz="1200" dirty="0"/>
          </a:p>
        </p:txBody>
      </p:sp>
      <p:sp>
        <p:nvSpPr>
          <p:cNvPr id="46" name="pecas-shape-45"/>
          <p:cNvSpPr/>
          <p:nvPr/>
        </p:nvSpPr>
        <p:spPr>
          <a:xfrm>
            <a:off x="12065000" y="5207000"/>
            <a:ext cx="3048000" cy="571500"/>
          </a:xfrm>
          <a:prstGeom prst="rect">
            <a:avLst/>
          </a:prstGeom>
          <a:solidFill>
            <a:srgbClr val="E6E6E6"/>
          </a:solidFill>
          <a:ln w="12700">
            <a:solidFill>
              <a:srgbClr val="8C8C8C"/>
            </a:solidFill>
            <a:prstDash val="solid"/>
          </a:ln>
        </p:spPr>
        <p:txBody>
          <a:bodyPr/>
          <a:p/>
        </p:txBody>
      </p:sp>
      <p:sp>
        <p:nvSpPr>
          <p:cNvPr id="47" name="pecas-text-46"/>
          <p:cNvSpPr/>
          <p:nvPr/>
        </p:nvSpPr>
        <p:spPr>
          <a:xfrm>
            <a:off x="12065000" y="5334000"/>
            <a:ext cx="3048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1500" dirty="0">
                <a:solidFill>
                  <a:srgbClr val="4040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Rodapé</a:t>
            </a:r>
            <a:endParaRPr lang="en-US" sz="1500" dirty="0"/>
          </a:p>
        </p:txBody>
      </p:sp>
      <p:sp>
        <p:nvSpPr>
          <p:cNvPr id="48" name="pecas-text-47"/>
          <p:cNvSpPr/>
          <p:nvPr/>
        </p:nvSpPr>
        <p:spPr>
          <a:xfrm>
            <a:off x="1016000" y="8572500"/>
            <a:ext cx="12446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100" dirty="0">
                <a:solidFill>
                  <a:srgbClr val="5F66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Desenvolvimento Web e Móvel · UC02833 Conceber aplicações para a web na vertente frontend · Semana 2 · Aula 3 · Modelo</a:t>
            </a:r>
            <a:endParaRPr lang="en-US" sz="1100" dirty="0"/>
          </a:p>
        </p:txBody>
      </p:sp>
      <p:sp>
        <p:nvSpPr>
          <p:cNvPr id="49" name="pecas-text-48"/>
          <p:cNvSpPr/>
          <p:nvPr/>
        </p:nvSpPr>
        <p:spPr>
          <a:xfrm>
            <a:off x="14986000" y="8572500"/>
            <a:ext cx="508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altLang="en-US" sz="1100" dirty="0">
                <a:solidFill>
                  <a:srgbClr val="5F66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xemplo-text-1"/>
          <p:cNvSpPr/>
          <p:nvPr/>
        </p:nvSpPr>
        <p:spPr>
          <a:xfrm>
            <a:off x="1016000" y="571500"/>
            <a:ext cx="1270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800" dirty="0">
                <a:solidFill>
                  <a:srgbClr val="22222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Exemplo (apaga este diapositivo antes de entregar)</a:t>
            </a:r>
            <a:endParaRPr lang="en-US" sz="2800" dirty="0"/>
          </a:p>
        </p:txBody>
      </p:sp>
      <p:sp>
        <p:nvSpPr>
          <p:cNvPr id="3" name="exemplo-text-2"/>
          <p:cNvSpPr/>
          <p:nvPr/>
        </p:nvSpPr>
        <p:spPr>
          <a:xfrm>
            <a:off x="1016000" y="1143000"/>
            <a:ext cx="7620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5F66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Início do Clube de Atletismo da Vila, nas duas versões.</a:t>
            </a:r>
            <a:endParaRPr lang="en-US" sz="1400" dirty="0"/>
          </a:p>
        </p:txBody>
      </p:sp>
      <p:sp>
        <p:nvSpPr>
          <p:cNvPr id="4" name="exemplo-text-3"/>
          <p:cNvSpPr/>
          <p:nvPr/>
        </p:nvSpPr>
        <p:spPr>
          <a:xfrm>
            <a:off x="1270000" y="1587500"/>
            <a:ext cx="3175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000" dirty="0">
                <a:solidFill>
                  <a:srgbClr val="22222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Telemóvel</a:t>
            </a:r>
            <a:endParaRPr lang="en-US" sz="2000" dirty="0"/>
          </a:p>
        </p:txBody>
      </p:sp>
      <p:sp>
        <p:nvSpPr>
          <p:cNvPr id="5" name="exemplo-shape-4"/>
          <p:cNvSpPr/>
          <p:nvPr/>
        </p:nvSpPr>
        <p:spPr>
          <a:xfrm>
            <a:off x="1270000" y="2032000"/>
            <a:ext cx="2921000" cy="5461000"/>
          </a:xfrm>
          <a:prstGeom prst="roundRect">
            <a:avLst>
              <a:gd name="adj" fmla="val 10435"/>
            </a:avLst>
          </a:prstGeom>
          <a:ln w="38100">
            <a:solidFill>
              <a:srgbClr val="404040"/>
            </a:solidFill>
            <a:prstDash val="solid"/>
          </a:ln>
        </p:spPr>
        <p:txBody>
          <a:bodyPr/>
          <a:p/>
        </p:txBody>
      </p:sp>
      <p:sp>
        <p:nvSpPr>
          <p:cNvPr id="6" name="exemplo-shape-5"/>
          <p:cNvSpPr/>
          <p:nvPr/>
        </p:nvSpPr>
        <p:spPr>
          <a:xfrm>
            <a:off x="1498600" y="2349500"/>
            <a:ext cx="2463800" cy="482600"/>
          </a:xfrm>
          <a:prstGeom prst="rect">
            <a:avLst/>
          </a:prstGeom>
          <a:solidFill>
            <a:srgbClr val="E6E6E6"/>
          </a:solidFill>
          <a:ln w="12700">
            <a:solidFill>
              <a:srgbClr val="8C8C8C"/>
            </a:solidFill>
            <a:prstDash val="solid"/>
          </a:ln>
        </p:spPr>
        <p:txBody>
          <a:bodyPr/>
          <a:p/>
        </p:txBody>
      </p:sp>
      <p:sp>
        <p:nvSpPr>
          <p:cNvPr id="7" name="exemplo-text-6"/>
          <p:cNvSpPr/>
          <p:nvPr/>
        </p:nvSpPr>
        <p:spPr>
          <a:xfrm>
            <a:off x="1625600" y="2463800"/>
            <a:ext cx="63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200" dirty="0">
                <a:solidFill>
                  <a:srgbClr val="4040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CAV</a:t>
            </a:r>
            <a:endParaRPr lang="en-US" sz="1200" dirty="0"/>
          </a:p>
        </p:txBody>
      </p:sp>
      <p:sp>
        <p:nvSpPr>
          <p:cNvPr id="8" name="exemplo-shape-7"/>
          <p:cNvSpPr/>
          <p:nvPr/>
        </p:nvSpPr>
        <p:spPr>
          <a:xfrm>
            <a:off x="3492500" y="2413000"/>
            <a:ext cx="304800" cy="30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8C8C8C"/>
            </a:solidFill>
            <a:prstDash val="solid"/>
          </a:ln>
        </p:spPr>
        <p:txBody>
          <a:bodyPr/>
          <a:p/>
        </p:txBody>
      </p:sp>
      <p:sp>
        <p:nvSpPr>
          <p:cNvPr id="9" name="exemplo-shape-8"/>
          <p:cNvSpPr/>
          <p:nvPr/>
        </p:nvSpPr>
        <p:spPr>
          <a:xfrm>
            <a:off x="3556000" y="2489200"/>
            <a:ext cx="177800" cy="38100"/>
          </a:xfrm>
          <a:prstGeom prst="rect">
            <a:avLst/>
          </a:prstGeom>
          <a:solidFill>
            <a:srgbClr val="404040"/>
          </a:solidFill>
          <a:ln/>
        </p:spPr>
        <p:txBody>
          <a:bodyPr/>
          <a:p/>
        </p:txBody>
      </p:sp>
      <p:sp>
        <p:nvSpPr>
          <p:cNvPr id="10" name="exemplo-shape-9"/>
          <p:cNvSpPr/>
          <p:nvPr/>
        </p:nvSpPr>
        <p:spPr>
          <a:xfrm>
            <a:off x="3556000" y="2565400"/>
            <a:ext cx="177800" cy="38100"/>
          </a:xfrm>
          <a:prstGeom prst="rect">
            <a:avLst/>
          </a:prstGeom>
          <a:solidFill>
            <a:srgbClr val="404040"/>
          </a:solidFill>
          <a:ln/>
        </p:spPr>
        <p:txBody>
          <a:bodyPr/>
          <a:p/>
        </p:txBody>
      </p:sp>
      <p:sp>
        <p:nvSpPr>
          <p:cNvPr id="11" name="exemplo-shape-10"/>
          <p:cNvSpPr/>
          <p:nvPr/>
        </p:nvSpPr>
        <p:spPr>
          <a:xfrm>
            <a:off x="3556000" y="2641600"/>
            <a:ext cx="177800" cy="38100"/>
          </a:xfrm>
          <a:prstGeom prst="rect">
            <a:avLst/>
          </a:prstGeom>
          <a:solidFill>
            <a:srgbClr val="404040"/>
          </a:solidFill>
          <a:ln/>
        </p:spPr>
        <p:txBody>
          <a:bodyPr/>
          <a:p/>
        </p:txBody>
      </p:sp>
      <p:sp>
        <p:nvSpPr>
          <p:cNvPr id="12" name="exemplo-shape-11"/>
          <p:cNvSpPr/>
          <p:nvPr/>
        </p:nvSpPr>
        <p:spPr>
          <a:xfrm>
            <a:off x="1498600" y="2984500"/>
            <a:ext cx="2463800" cy="1333500"/>
          </a:xfrm>
          <a:prstGeom prst="rect">
            <a:avLst/>
          </a:prstGeom>
          <a:solidFill>
            <a:srgbClr val="E6E6E6"/>
          </a:solidFill>
          <a:ln w="12700">
            <a:solidFill>
              <a:srgbClr val="8C8C8C"/>
            </a:solidFill>
            <a:prstDash val="solid"/>
          </a:ln>
        </p:spPr>
        <p:txBody>
          <a:bodyPr/>
          <a:p/>
        </p:txBody>
      </p:sp>
      <p:sp>
        <p:nvSpPr>
          <p:cNvPr id="13" name="exemplo-shape-12"/>
          <p:cNvSpPr/>
          <p:nvPr/>
        </p:nvSpPr>
        <p:spPr>
          <a:xfrm>
            <a:off x="1651000" y="3111500"/>
            <a:ext cx="2159000" cy="50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8C8C8C"/>
            </a:solidFill>
            <a:prstDash val="solid"/>
          </a:ln>
        </p:spPr>
        <p:txBody>
          <a:bodyPr/>
          <a:p/>
        </p:txBody>
      </p:sp>
      <p:sp>
        <p:nvSpPr>
          <p:cNvPr id="14" name="exemplo-shape-13"/>
          <p:cNvSpPr/>
          <p:nvPr/>
        </p:nvSpPr>
        <p:spPr>
          <a:xfrm>
            <a:off x="1651000" y="3111500"/>
            <a:ext cx="2159000" cy="508000"/>
          </a:xfrm>
          <a:prstGeom prst="line">
            <a:avLst/>
          </a:prstGeom>
          <a:ln w="12700">
            <a:solidFill>
              <a:srgbClr val="8C8C8C"/>
            </a:solidFill>
            <a:prstDash val="solid"/>
          </a:ln>
        </p:spPr>
        <p:txBody>
          <a:bodyPr/>
          <a:p/>
        </p:txBody>
      </p:sp>
      <p:sp>
        <p:nvSpPr>
          <p:cNvPr id="15" name="exemplo-shape-14"/>
          <p:cNvSpPr/>
          <p:nvPr/>
        </p:nvSpPr>
        <p:spPr>
          <a:xfrm flipV="1">
            <a:off x="1651000" y="3111500"/>
            <a:ext cx="2159000" cy="508000"/>
          </a:xfrm>
          <a:prstGeom prst="line">
            <a:avLst/>
          </a:prstGeom>
          <a:ln w="12700">
            <a:solidFill>
              <a:srgbClr val="8C8C8C"/>
            </a:solidFill>
            <a:prstDash val="solid"/>
          </a:ln>
        </p:spPr>
        <p:txBody>
          <a:bodyPr/>
          <a:p/>
        </p:txBody>
      </p:sp>
      <p:sp>
        <p:nvSpPr>
          <p:cNvPr id="16" name="exemplo-text-15"/>
          <p:cNvSpPr/>
          <p:nvPr/>
        </p:nvSpPr>
        <p:spPr>
          <a:xfrm>
            <a:off x="1651000" y="3708400"/>
            <a:ext cx="2159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4040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Corre connosco!</a:t>
            </a:r>
            <a:endParaRPr lang="en-US" sz="1400" dirty="0"/>
          </a:p>
        </p:txBody>
      </p:sp>
      <p:sp>
        <p:nvSpPr>
          <p:cNvPr id="17" name="exemplo-shape-16"/>
          <p:cNvSpPr/>
          <p:nvPr/>
        </p:nvSpPr>
        <p:spPr>
          <a:xfrm>
            <a:off x="1651000" y="4038600"/>
            <a:ext cx="1397000" cy="76200"/>
          </a:xfrm>
          <a:prstGeom prst="rect">
            <a:avLst/>
          </a:prstGeom>
          <a:solidFill>
            <a:srgbClr val="BFBFBF"/>
          </a:solidFill>
          <a:ln/>
        </p:spPr>
        <p:txBody>
          <a:bodyPr/>
          <a:p/>
        </p:txBody>
      </p:sp>
      <p:sp>
        <p:nvSpPr>
          <p:cNvPr id="18" name="exemplo-shape-17"/>
          <p:cNvSpPr/>
          <p:nvPr/>
        </p:nvSpPr>
        <p:spPr>
          <a:xfrm>
            <a:off x="1651000" y="4191000"/>
            <a:ext cx="1397000" cy="76200"/>
          </a:xfrm>
          <a:prstGeom prst="rect">
            <a:avLst/>
          </a:prstGeom>
          <a:solidFill>
            <a:srgbClr val="BFBFBF"/>
          </a:solidFill>
          <a:ln/>
        </p:spPr>
        <p:txBody>
          <a:bodyPr/>
          <a:p/>
        </p:txBody>
      </p:sp>
      <p:sp>
        <p:nvSpPr>
          <p:cNvPr id="19" name="exemplo-shape-18"/>
          <p:cNvSpPr/>
          <p:nvPr/>
        </p:nvSpPr>
        <p:spPr>
          <a:xfrm>
            <a:off x="1651000" y="4318000"/>
            <a:ext cx="1016000" cy="254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404040"/>
            </a:solidFill>
            <a:prstDash val="solid"/>
          </a:ln>
        </p:spPr>
        <p:txBody>
          <a:bodyPr/>
          <a:p/>
        </p:txBody>
      </p:sp>
      <p:sp>
        <p:nvSpPr>
          <p:cNvPr id="20" name="exemplo-shape-19"/>
          <p:cNvSpPr/>
          <p:nvPr/>
        </p:nvSpPr>
        <p:spPr>
          <a:xfrm>
            <a:off x="1498600" y="4508500"/>
            <a:ext cx="2463800" cy="698500"/>
          </a:xfrm>
          <a:prstGeom prst="rect">
            <a:avLst/>
          </a:prstGeom>
          <a:solidFill>
            <a:srgbClr val="E6E6E6"/>
          </a:solidFill>
          <a:ln w="12700">
            <a:solidFill>
              <a:srgbClr val="8C8C8C"/>
            </a:solidFill>
            <a:prstDash val="solid"/>
          </a:ln>
        </p:spPr>
        <p:txBody>
          <a:bodyPr/>
          <a:p/>
        </p:txBody>
      </p:sp>
      <p:sp>
        <p:nvSpPr>
          <p:cNvPr id="21" name="exemplo-text-20"/>
          <p:cNvSpPr/>
          <p:nvPr/>
        </p:nvSpPr>
        <p:spPr>
          <a:xfrm>
            <a:off x="1651000" y="4597400"/>
            <a:ext cx="2159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200" dirty="0">
                <a:solidFill>
                  <a:srgbClr val="4040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Treinos e horários</a:t>
            </a:r>
            <a:endParaRPr lang="en-US" sz="1200" dirty="0"/>
          </a:p>
        </p:txBody>
      </p:sp>
      <p:sp>
        <p:nvSpPr>
          <p:cNvPr id="22" name="exemplo-shape-21"/>
          <p:cNvSpPr/>
          <p:nvPr/>
        </p:nvSpPr>
        <p:spPr>
          <a:xfrm>
            <a:off x="1651000" y="4902200"/>
            <a:ext cx="1143000" cy="76200"/>
          </a:xfrm>
          <a:prstGeom prst="rect">
            <a:avLst/>
          </a:prstGeom>
          <a:solidFill>
            <a:srgbClr val="BFBFBF"/>
          </a:solidFill>
          <a:ln/>
        </p:spPr>
        <p:txBody>
          <a:bodyPr/>
          <a:p/>
        </p:txBody>
      </p:sp>
      <p:sp>
        <p:nvSpPr>
          <p:cNvPr id="23" name="exemplo-shape-22"/>
          <p:cNvSpPr/>
          <p:nvPr/>
        </p:nvSpPr>
        <p:spPr>
          <a:xfrm>
            <a:off x="1498600" y="5334000"/>
            <a:ext cx="2463800" cy="698500"/>
          </a:xfrm>
          <a:prstGeom prst="rect">
            <a:avLst/>
          </a:prstGeom>
          <a:solidFill>
            <a:srgbClr val="E6E6E6"/>
          </a:solidFill>
          <a:ln w="12700">
            <a:solidFill>
              <a:srgbClr val="8C8C8C"/>
            </a:solidFill>
            <a:prstDash val="solid"/>
          </a:ln>
        </p:spPr>
        <p:txBody>
          <a:bodyPr/>
          <a:p/>
        </p:txBody>
      </p:sp>
      <p:sp>
        <p:nvSpPr>
          <p:cNvPr id="24" name="exemplo-text-23"/>
          <p:cNvSpPr/>
          <p:nvPr/>
        </p:nvSpPr>
        <p:spPr>
          <a:xfrm>
            <a:off x="1651000" y="5422900"/>
            <a:ext cx="2159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200" dirty="0">
                <a:solidFill>
                  <a:srgbClr val="4040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Resultados</a:t>
            </a:r>
            <a:endParaRPr lang="en-US" sz="1200" dirty="0"/>
          </a:p>
        </p:txBody>
      </p:sp>
      <p:sp>
        <p:nvSpPr>
          <p:cNvPr id="25" name="exemplo-shape-24"/>
          <p:cNvSpPr/>
          <p:nvPr/>
        </p:nvSpPr>
        <p:spPr>
          <a:xfrm>
            <a:off x="1651000" y="5727700"/>
            <a:ext cx="1143000" cy="76200"/>
          </a:xfrm>
          <a:prstGeom prst="rect">
            <a:avLst/>
          </a:prstGeom>
          <a:solidFill>
            <a:srgbClr val="BFBFBF"/>
          </a:solidFill>
          <a:ln/>
        </p:spPr>
        <p:txBody>
          <a:bodyPr/>
          <a:p/>
        </p:txBody>
      </p:sp>
      <p:sp>
        <p:nvSpPr>
          <p:cNvPr id="26" name="exemplo-shape-25"/>
          <p:cNvSpPr/>
          <p:nvPr/>
        </p:nvSpPr>
        <p:spPr>
          <a:xfrm>
            <a:off x="1498600" y="6159500"/>
            <a:ext cx="2463800" cy="698500"/>
          </a:xfrm>
          <a:prstGeom prst="rect">
            <a:avLst/>
          </a:prstGeom>
          <a:solidFill>
            <a:srgbClr val="E6E6E6"/>
          </a:solidFill>
          <a:ln w="12700">
            <a:solidFill>
              <a:srgbClr val="8C8C8C"/>
            </a:solidFill>
            <a:prstDash val="solid"/>
          </a:ln>
        </p:spPr>
        <p:txBody>
          <a:bodyPr/>
          <a:p/>
        </p:txBody>
      </p:sp>
      <p:sp>
        <p:nvSpPr>
          <p:cNvPr id="27" name="exemplo-text-26"/>
          <p:cNvSpPr/>
          <p:nvPr/>
        </p:nvSpPr>
        <p:spPr>
          <a:xfrm>
            <a:off x="1651000" y="6248400"/>
            <a:ext cx="2159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200" dirty="0">
                <a:solidFill>
                  <a:srgbClr val="4040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Inscrições</a:t>
            </a:r>
            <a:endParaRPr lang="en-US" sz="1200" dirty="0"/>
          </a:p>
        </p:txBody>
      </p:sp>
      <p:sp>
        <p:nvSpPr>
          <p:cNvPr id="28" name="exemplo-shape-27"/>
          <p:cNvSpPr/>
          <p:nvPr/>
        </p:nvSpPr>
        <p:spPr>
          <a:xfrm>
            <a:off x="1651000" y="6553200"/>
            <a:ext cx="1143000" cy="76200"/>
          </a:xfrm>
          <a:prstGeom prst="rect">
            <a:avLst/>
          </a:prstGeom>
          <a:solidFill>
            <a:srgbClr val="BFBFBF"/>
          </a:solidFill>
          <a:ln/>
        </p:spPr>
        <p:txBody>
          <a:bodyPr/>
          <a:p/>
        </p:txBody>
      </p:sp>
      <p:sp>
        <p:nvSpPr>
          <p:cNvPr id="29" name="exemplo-shape-28"/>
          <p:cNvSpPr/>
          <p:nvPr/>
        </p:nvSpPr>
        <p:spPr>
          <a:xfrm>
            <a:off x="1498600" y="6985000"/>
            <a:ext cx="2463800" cy="317500"/>
          </a:xfrm>
          <a:prstGeom prst="rect">
            <a:avLst/>
          </a:prstGeom>
          <a:solidFill>
            <a:srgbClr val="E6E6E6"/>
          </a:solidFill>
          <a:ln w="12700">
            <a:solidFill>
              <a:srgbClr val="8C8C8C"/>
            </a:solidFill>
            <a:prstDash val="solid"/>
          </a:ln>
        </p:spPr>
        <p:txBody>
          <a:bodyPr/>
          <a:p/>
        </p:txBody>
      </p:sp>
      <p:sp>
        <p:nvSpPr>
          <p:cNvPr id="30" name="exemplo-text-29"/>
          <p:cNvSpPr/>
          <p:nvPr/>
        </p:nvSpPr>
        <p:spPr>
          <a:xfrm>
            <a:off x="1498600" y="7061200"/>
            <a:ext cx="24638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1100" dirty="0">
                <a:solidFill>
                  <a:srgbClr val="4040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Contactos · Redes sociais</a:t>
            </a:r>
            <a:endParaRPr lang="en-US" sz="1100" dirty="0"/>
          </a:p>
        </p:txBody>
      </p:sp>
      <p:sp>
        <p:nvSpPr>
          <p:cNvPr id="31" name="exemplo-text-30"/>
          <p:cNvSpPr/>
          <p:nvPr/>
        </p:nvSpPr>
        <p:spPr>
          <a:xfrm>
            <a:off x="5334000" y="1587500"/>
            <a:ext cx="3810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000" dirty="0">
                <a:solidFill>
                  <a:srgbClr val="22222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Computador</a:t>
            </a:r>
            <a:endParaRPr lang="en-US" sz="2000" dirty="0"/>
          </a:p>
        </p:txBody>
      </p:sp>
      <p:sp>
        <p:nvSpPr>
          <p:cNvPr id="32" name="exemplo-shape-31"/>
          <p:cNvSpPr/>
          <p:nvPr/>
        </p:nvSpPr>
        <p:spPr>
          <a:xfrm>
            <a:off x="5334000" y="2032000"/>
            <a:ext cx="10033000" cy="5461000"/>
          </a:xfrm>
          <a:prstGeom prst="rect">
            <a:avLst/>
          </a:prstGeom>
          <a:ln w="38100">
            <a:solidFill>
              <a:srgbClr val="404040"/>
            </a:solidFill>
            <a:prstDash val="solid"/>
          </a:ln>
        </p:spPr>
        <p:txBody>
          <a:bodyPr/>
          <a:p/>
        </p:txBody>
      </p:sp>
      <p:sp>
        <p:nvSpPr>
          <p:cNvPr id="33" name="exemplo-shape-32"/>
          <p:cNvSpPr/>
          <p:nvPr/>
        </p:nvSpPr>
        <p:spPr>
          <a:xfrm>
            <a:off x="5334000" y="2032000"/>
            <a:ext cx="10033000" cy="228600"/>
          </a:xfrm>
          <a:prstGeom prst="rect">
            <a:avLst/>
          </a:prstGeom>
          <a:solidFill>
            <a:srgbClr val="F2F4F7"/>
          </a:solidFill>
          <a:ln/>
        </p:spPr>
        <p:txBody>
          <a:bodyPr/>
          <a:p/>
        </p:txBody>
      </p:sp>
      <p:sp>
        <p:nvSpPr>
          <p:cNvPr id="34" name="exemplo-shape-33"/>
          <p:cNvSpPr/>
          <p:nvPr/>
        </p:nvSpPr>
        <p:spPr>
          <a:xfrm>
            <a:off x="5588000" y="2476500"/>
            <a:ext cx="9525000" cy="508000"/>
          </a:xfrm>
          <a:prstGeom prst="rect">
            <a:avLst/>
          </a:prstGeom>
          <a:solidFill>
            <a:srgbClr val="E6E6E6"/>
          </a:solidFill>
          <a:ln w="12700">
            <a:solidFill>
              <a:srgbClr val="8C8C8C"/>
            </a:solidFill>
            <a:prstDash val="solid"/>
          </a:ln>
        </p:spPr>
        <p:txBody>
          <a:bodyPr/>
          <a:p/>
        </p:txBody>
      </p:sp>
      <p:sp>
        <p:nvSpPr>
          <p:cNvPr id="35" name="exemplo-text-34"/>
          <p:cNvSpPr/>
          <p:nvPr/>
        </p:nvSpPr>
        <p:spPr>
          <a:xfrm>
            <a:off x="5778500" y="2603500"/>
            <a:ext cx="63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200" dirty="0">
                <a:solidFill>
                  <a:srgbClr val="4040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CAV</a:t>
            </a:r>
            <a:endParaRPr lang="en-US" sz="1200" dirty="0"/>
          </a:p>
        </p:txBody>
      </p:sp>
      <p:sp>
        <p:nvSpPr>
          <p:cNvPr id="36" name="exemplo-text-35"/>
          <p:cNvSpPr/>
          <p:nvPr/>
        </p:nvSpPr>
        <p:spPr>
          <a:xfrm>
            <a:off x="6604000" y="2603500"/>
            <a:ext cx="787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300" dirty="0">
                <a:solidFill>
                  <a:srgbClr val="4040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 clube · Treinos e horários · Resultados · Galeria · Inscrições e contactos</a:t>
            </a:r>
            <a:endParaRPr lang="en-US" sz="1300" dirty="0"/>
          </a:p>
        </p:txBody>
      </p:sp>
      <p:sp>
        <p:nvSpPr>
          <p:cNvPr id="37" name="exemplo-shape-36"/>
          <p:cNvSpPr/>
          <p:nvPr/>
        </p:nvSpPr>
        <p:spPr>
          <a:xfrm>
            <a:off x="5588000" y="3175000"/>
            <a:ext cx="9525000" cy="1333500"/>
          </a:xfrm>
          <a:prstGeom prst="rect">
            <a:avLst/>
          </a:prstGeom>
          <a:solidFill>
            <a:srgbClr val="E6E6E6"/>
          </a:solidFill>
          <a:ln w="12700">
            <a:solidFill>
              <a:srgbClr val="8C8C8C"/>
            </a:solidFill>
            <a:prstDash val="solid"/>
          </a:ln>
        </p:spPr>
        <p:txBody>
          <a:bodyPr/>
          <a:p/>
        </p:txBody>
      </p:sp>
      <p:sp>
        <p:nvSpPr>
          <p:cNvPr id="38" name="exemplo-shape-37"/>
          <p:cNvSpPr/>
          <p:nvPr/>
        </p:nvSpPr>
        <p:spPr>
          <a:xfrm>
            <a:off x="5778500" y="3365500"/>
            <a:ext cx="2794000" cy="952500"/>
          </a:xfrm>
          <a:prstGeom prst="rect">
            <a:avLst/>
          </a:prstGeom>
          <a:solidFill>
            <a:srgbClr val="FFFFFF"/>
          </a:solidFill>
          <a:ln w="12700">
            <a:solidFill>
              <a:srgbClr val="8C8C8C"/>
            </a:solidFill>
            <a:prstDash val="solid"/>
          </a:ln>
        </p:spPr>
        <p:txBody>
          <a:bodyPr/>
          <a:p/>
        </p:txBody>
      </p:sp>
      <p:sp>
        <p:nvSpPr>
          <p:cNvPr id="39" name="exemplo-shape-38"/>
          <p:cNvSpPr/>
          <p:nvPr/>
        </p:nvSpPr>
        <p:spPr>
          <a:xfrm>
            <a:off x="5778500" y="3365500"/>
            <a:ext cx="2794000" cy="952500"/>
          </a:xfrm>
          <a:prstGeom prst="line">
            <a:avLst/>
          </a:prstGeom>
          <a:ln w="12700">
            <a:solidFill>
              <a:srgbClr val="8C8C8C"/>
            </a:solidFill>
            <a:prstDash val="solid"/>
          </a:ln>
        </p:spPr>
        <p:txBody>
          <a:bodyPr/>
          <a:p/>
        </p:txBody>
      </p:sp>
      <p:sp>
        <p:nvSpPr>
          <p:cNvPr id="40" name="exemplo-shape-39"/>
          <p:cNvSpPr/>
          <p:nvPr/>
        </p:nvSpPr>
        <p:spPr>
          <a:xfrm flipV="1">
            <a:off x="5778500" y="3365500"/>
            <a:ext cx="2794000" cy="952500"/>
          </a:xfrm>
          <a:prstGeom prst="line">
            <a:avLst/>
          </a:prstGeom>
          <a:ln w="12700">
            <a:solidFill>
              <a:srgbClr val="8C8C8C"/>
            </a:solidFill>
            <a:prstDash val="solid"/>
          </a:ln>
        </p:spPr>
        <p:txBody>
          <a:bodyPr/>
          <a:p/>
        </p:txBody>
      </p:sp>
      <p:sp>
        <p:nvSpPr>
          <p:cNvPr id="41" name="exemplo-text-40"/>
          <p:cNvSpPr/>
          <p:nvPr/>
        </p:nvSpPr>
        <p:spPr>
          <a:xfrm>
            <a:off x="9017000" y="3365500"/>
            <a:ext cx="4191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300" dirty="0">
                <a:solidFill>
                  <a:srgbClr val="4040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Corre connosco!</a:t>
            </a:r>
            <a:endParaRPr lang="en-US" sz="2300" dirty="0"/>
          </a:p>
        </p:txBody>
      </p:sp>
      <p:sp>
        <p:nvSpPr>
          <p:cNvPr id="42" name="exemplo-shape-41"/>
          <p:cNvSpPr/>
          <p:nvPr/>
        </p:nvSpPr>
        <p:spPr>
          <a:xfrm>
            <a:off x="9017000" y="3873500"/>
            <a:ext cx="2921000" cy="101600"/>
          </a:xfrm>
          <a:prstGeom prst="rect">
            <a:avLst/>
          </a:prstGeom>
          <a:solidFill>
            <a:srgbClr val="BFBFBF"/>
          </a:solidFill>
          <a:ln/>
        </p:spPr>
        <p:txBody>
          <a:bodyPr/>
          <a:p/>
        </p:txBody>
      </p:sp>
      <p:sp>
        <p:nvSpPr>
          <p:cNvPr id="43" name="exemplo-shape-42"/>
          <p:cNvSpPr/>
          <p:nvPr/>
        </p:nvSpPr>
        <p:spPr>
          <a:xfrm>
            <a:off x="9017000" y="4076700"/>
            <a:ext cx="2921000" cy="101600"/>
          </a:xfrm>
          <a:prstGeom prst="rect">
            <a:avLst/>
          </a:prstGeom>
          <a:solidFill>
            <a:srgbClr val="BFBFBF"/>
          </a:solidFill>
          <a:ln/>
        </p:spPr>
        <p:txBody>
          <a:bodyPr/>
          <a:p/>
        </p:txBody>
      </p:sp>
      <p:sp>
        <p:nvSpPr>
          <p:cNvPr id="44" name="exemplo-shape-43"/>
          <p:cNvSpPr/>
          <p:nvPr/>
        </p:nvSpPr>
        <p:spPr>
          <a:xfrm>
            <a:off x="9017000" y="4292600"/>
            <a:ext cx="1460500" cy="330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404040"/>
            </a:solidFill>
            <a:prstDash val="solid"/>
          </a:ln>
        </p:spPr>
        <p:txBody>
          <a:bodyPr/>
          <a:p/>
        </p:txBody>
      </p:sp>
      <p:sp>
        <p:nvSpPr>
          <p:cNvPr id="45" name="exemplo-shape-44"/>
          <p:cNvSpPr/>
          <p:nvPr/>
        </p:nvSpPr>
        <p:spPr>
          <a:xfrm>
            <a:off x="5588000" y="4762500"/>
            <a:ext cx="2984500" cy="1206500"/>
          </a:xfrm>
          <a:prstGeom prst="rect">
            <a:avLst/>
          </a:prstGeom>
          <a:solidFill>
            <a:srgbClr val="E6E6E6"/>
          </a:solidFill>
          <a:ln w="12700">
            <a:solidFill>
              <a:srgbClr val="8C8C8C"/>
            </a:solidFill>
            <a:prstDash val="solid"/>
          </a:ln>
        </p:spPr>
        <p:txBody>
          <a:bodyPr/>
          <a:p/>
        </p:txBody>
      </p:sp>
      <p:sp>
        <p:nvSpPr>
          <p:cNvPr id="46" name="exemplo-text-45"/>
          <p:cNvSpPr/>
          <p:nvPr/>
        </p:nvSpPr>
        <p:spPr>
          <a:xfrm>
            <a:off x="5778500" y="4927600"/>
            <a:ext cx="254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300" dirty="0">
                <a:solidFill>
                  <a:srgbClr val="4040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Treinos e horários</a:t>
            </a:r>
            <a:endParaRPr lang="en-US" sz="1300" dirty="0"/>
          </a:p>
        </p:txBody>
      </p:sp>
      <p:sp>
        <p:nvSpPr>
          <p:cNvPr id="47" name="exemplo-shape-46"/>
          <p:cNvSpPr/>
          <p:nvPr/>
        </p:nvSpPr>
        <p:spPr>
          <a:xfrm>
            <a:off x="5778500" y="5334000"/>
            <a:ext cx="1651000" cy="88900"/>
          </a:xfrm>
          <a:prstGeom prst="rect">
            <a:avLst/>
          </a:prstGeom>
          <a:solidFill>
            <a:srgbClr val="BFBFBF"/>
          </a:solidFill>
          <a:ln/>
        </p:spPr>
        <p:txBody>
          <a:bodyPr/>
          <a:p/>
        </p:txBody>
      </p:sp>
      <p:sp>
        <p:nvSpPr>
          <p:cNvPr id="48" name="exemplo-shape-47"/>
          <p:cNvSpPr/>
          <p:nvPr/>
        </p:nvSpPr>
        <p:spPr>
          <a:xfrm>
            <a:off x="5778500" y="5524500"/>
            <a:ext cx="1651000" cy="88900"/>
          </a:xfrm>
          <a:prstGeom prst="rect">
            <a:avLst/>
          </a:prstGeom>
          <a:solidFill>
            <a:srgbClr val="BFBFBF"/>
          </a:solidFill>
          <a:ln/>
        </p:spPr>
        <p:txBody>
          <a:bodyPr/>
          <a:p/>
        </p:txBody>
      </p:sp>
      <p:sp>
        <p:nvSpPr>
          <p:cNvPr id="49" name="exemplo-shape-48"/>
          <p:cNvSpPr/>
          <p:nvPr/>
        </p:nvSpPr>
        <p:spPr>
          <a:xfrm>
            <a:off x="8851900" y="4762500"/>
            <a:ext cx="2984500" cy="1206500"/>
          </a:xfrm>
          <a:prstGeom prst="rect">
            <a:avLst/>
          </a:prstGeom>
          <a:solidFill>
            <a:srgbClr val="E6E6E6"/>
          </a:solidFill>
          <a:ln w="12700">
            <a:solidFill>
              <a:srgbClr val="8C8C8C"/>
            </a:solidFill>
            <a:prstDash val="solid"/>
          </a:ln>
        </p:spPr>
        <p:txBody>
          <a:bodyPr/>
          <a:p/>
        </p:txBody>
      </p:sp>
      <p:sp>
        <p:nvSpPr>
          <p:cNvPr id="50" name="exemplo-text-49"/>
          <p:cNvSpPr/>
          <p:nvPr/>
        </p:nvSpPr>
        <p:spPr>
          <a:xfrm>
            <a:off x="9042400" y="4927600"/>
            <a:ext cx="254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300" dirty="0">
                <a:solidFill>
                  <a:srgbClr val="4040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Resultados</a:t>
            </a:r>
            <a:endParaRPr lang="en-US" sz="1300" dirty="0"/>
          </a:p>
        </p:txBody>
      </p:sp>
      <p:sp>
        <p:nvSpPr>
          <p:cNvPr id="51" name="exemplo-shape-50"/>
          <p:cNvSpPr/>
          <p:nvPr/>
        </p:nvSpPr>
        <p:spPr>
          <a:xfrm>
            <a:off x="9042400" y="5334000"/>
            <a:ext cx="1651000" cy="88900"/>
          </a:xfrm>
          <a:prstGeom prst="rect">
            <a:avLst/>
          </a:prstGeom>
          <a:solidFill>
            <a:srgbClr val="BFBFBF"/>
          </a:solidFill>
          <a:ln/>
        </p:spPr>
        <p:txBody>
          <a:bodyPr/>
          <a:p/>
        </p:txBody>
      </p:sp>
      <p:sp>
        <p:nvSpPr>
          <p:cNvPr id="52" name="exemplo-shape-51"/>
          <p:cNvSpPr/>
          <p:nvPr/>
        </p:nvSpPr>
        <p:spPr>
          <a:xfrm>
            <a:off x="9042400" y="5524500"/>
            <a:ext cx="1651000" cy="88900"/>
          </a:xfrm>
          <a:prstGeom prst="rect">
            <a:avLst/>
          </a:prstGeom>
          <a:solidFill>
            <a:srgbClr val="BFBFBF"/>
          </a:solidFill>
          <a:ln/>
        </p:spPr>
        <p:txBody>
          <a:bodyPr/>
          <a:p/>
        </p:txBody>
      </p:sp>
      <p:sp>
        <p:nvSpPr>
          <p:cNvPr id="53" name="exemplo-shape-52"/>
          <p:cNvSpPr/>
          <p:nvPr/>
        </p:nvSpPr>
        <p:spPr>
          <a:xfrm>
            <a:off x="12115800" y="4762500"/>
            <a:ext cx="2997200" cy="1206500"/>
          </a:xfrm>
          <a:prstGeom prst="rect">
            <a:avLst/>
          </a:prstGeom>
          <a:solidFill>
            <a:srgbClr val="E6E6E6"/>
          </a:solidFill>
          <a:ln w="12700">
            <a:solidFill>
              <a:srgbClr val="8C8C8C"/>
            </a:solidFill>
            <a:prstDash val="solid"/>
          </a:ln>
        </p:spPr>
        <p:txBody>
          <a:bodyPr/>
          <a:p/>
        </p:txBody>
      </p:sp>
      <p:sp>
        <p:nvSpPr>
          <p:cNvPr id="54" name="exemplo-text-53"/>
          <p:cNvSpPr/>
          <p:nvPr/>
        </p:nvSpPr>
        <p:spPr>
          <a:xfrm>
            <a:off x="12306300" y="4927600"/>
            <a:ext cx="254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300" dirty="0">
                <a:solidFill>
                  <a:srgbClr val="4040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Inscrições</a:t>
            </a:r>
            <a:endParaRPr lang="en-US" sz="1300" dirty="0"/>
          </a:p>
        </p:txBody>
      </p:sp>
      <p:sp>
        <p:nvSpPr>
          <p:cNvPr id="55" name="exemplo-shape-54"/>
          <p:cNvSpPr/>
          <p:nvPr/>
        </p:nvSpPr>
        <p:spPr>
          <a:xfrm>
            <a:off x="12306300" y="5334000"/>
            <a:ext cx="1651000" cy="88900"/>
          </a:xfrm>
          <a:prstGeom prst="rect">
            <a:avLst/>
          </a:prstGeom>
          <a:solidFill>
            <a:srgbClr val="BFBFBF"/>
          </a:solidFill>
          <a:ln/>
        </p:spPr>
        <p:txBody>
          <a:bodyPr/>
          <a:p/>
        </p:txBody>
      </p:sp>
      <p:sp>
        <p:nvSpPr>
          <p:cNvPr id="56" name="exemplo-shape-55"/>
          <p:cNvSpPr/>
          <p:nvPr/>
        </p:nvSpPr>
        <p:spPr>
          <a:xfrm>
            <a:off x="12306300" y="5524500"/>
            <a:ext cx="1651000" cy="88900"/>
          </a:xfrm>
          <a:prstGeom prst="rect">
            <a:avLst/>
          </a:prstGeom>
          <a:solidFill>
            <a:srgbClr val="BFBFBF"/>
          </a:solidFill>
          <a:ln/>
        </p:spPr>
        <p:txBody>
          <a:bodyPr/>
          <a:p/>
        </p:txBody>
      </p:sp>
      <p:sp>
        <p:nvSpPr>
          <p:cNvPr id="57" name="exemplo-shape-56"/>
          <p:cNvSpPr/>
          <p:nvPr/>
        </p:nvSpPr>
        <p:spPr>
          <a:xfrm>
            <a:off x="5588000" y="6223000"/>
            <a:ext cx="9525000" cy="355600"/>
          </a:xfrm>
          <a:prstGeom prst="rect">
            <a:avLst/>
          </a:prstGeom>
          <a:solidFill>
            <a:srgbClr val="E6E6E6"/>
          </a:solidFill>
          <a:ln w="12700">
            <a:solidFill>
              <a:srgbClr val="8C8C8C"/>
            </a:solidFill>
            <a:prstDash val="solid"/>
          </a:ln>
        </p:spPr>
        <p:txBody>
          <a:bodyPr/>
          <a:p/>
        </p:txBody>
      </p:sp>
      <p:sp>
        <p:nvSpPr>
          <p:cNvPr id="58" name="exemplo-text-57"/>
          <p:cNvSpPr/>
          <p:nvPr/>
        </p:nvSpPr>
        <p:spPr>
          <a:xfrm>
            <a:off x="5588000" y="6311900"/>
            <a:ext cx="9525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1200" dirty="0">
                <a:solidFill>
                  <a:srgbClr val="4040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Contactos · Ligações · Redes sociais</a:t>
            </a:r>
            <a:endParaRPr lang="en-US" sz="1200" dirty="0"/>
          </a:p>
        </p:txBody>
      </p:sp>
      <p:sp>
        <p:nvSpPr>
          <p:cNvPr id="59" name="exemplo-text-58"/>
          <p:cNvSpPr/>
          <p:nvPr/>
        </p:nvSpPr>
        <p:spPr>
          <a:xfrm>
            <a:off x="1016000" y="8572500"/>
            <a:ext cx="12446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100" dirty="0">
                <a:solidFill>
                  <a:srgbClr val="5F66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Desenvolvimento Web e Móvel · UC02833 Conceber aplicações para a web na vertente frontend · Semana 2 · Aula 3 · Modelo</a:t>
            </a:r>
            <a:endParaRPr lang="en-US" sz="1100" dirty="0"/>
          </a:p>
        </p:txBody>
      </p:sp>
      <p:sp>
        <p:nvSpPr>
          <p:cNvPr id="60" name="exemplo-text-59"/>
          <p:cNvSpPr/>
          <p:nvPr/>
        </p:nvSpPr>
        <p:spPr>
          <a:xfrm>
            <a:off x="14986000" y="8572500"/>
            <a:ext cx="508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altLang="en-US" sz="1100" dirty="0">
                <a:solidFill>
                  <a:srgbClr val="5F66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gina1-text-1"/>
          <p:cNvSpPr/>
          <p:nvPr/>
        </p:nvSpPr>
        <p:spPr>
          <a:xfrm>
            <a:off x="1016000" y="571500"/>
            <a:ext cx="1143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3000" dirty="0">
                <a:solidFill>
                  <a:srgbClr val="22222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Página 1: Início</a:t>
            </a:r>
            <a:endParaRPr lang="en-US" sz="3000" dirty="0"/>
          </a:p>
        </p:txBody>
      </p:sp>
      <p:sp>
        <p:nvSpPr>
          <p:cNvPr id="3" name="pagina1-text-2"/>
          <p:cNvSpPr/>
          <p:nvPr/>
        </p:nvSpPr>
        <p:spPr>
          <a:xfrm>
            <a:off x="1016000" y="1206500"/>
            <a:ext cx="7620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300" dirty="0">
                <a:solidFill>
                  <a:srgbClr val="5F66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Primeiro o telemóvel: uma coluna. Depois o computador: os mesmos blocos, pela mesma ordem.</a:t>
            </a:r>
            <a:endParaRPr lang="en-US" sz="1300" dirty="0"/>
          </a:p>
        </p:txBody>
      </p:sp>
      <p:sp>
        <p:nvSpPr>
          <p:cNvPr id="4" name="pagina1-text-3"/>
          <p:cNvSpPr/>
          <p:nvPr/>
        </p:nvSpPr>
        <p:spPr>
          <a:xfrm>
            <a:off x="1016000" y="1651000"/>
            <a:ext cx="3048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900" dirty="0">
                <a:solidFill>
                  <a:srgbClr val="22222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Telemóvel</a:t>
            </a:r>
            <a:endParaRPr lang="en-US" sz="1900" dirty="0"/>
          </a:p>
        </p:txBody>
      </p:sp>
      <p:sp>
        <p:nvSpPr>
          <p:cNvPr id="5" name="pagina1-shape-4"/>
          <p:cNvSpPr/>
          <p:nvPr/>
        </p:nvSpPr>
        <p:spPr>
          <a:xfrm>
            <a:off x="1016000" y="2095500"/>
            <a:ext cx="3175000" cy="5588000"/>
          </a:xfrm>
          <a:prstGeom prst="roundRect">
            <a:avLst>
              <a:gd name="adj" fmla="val 9600"/>
            </a:avLst>
          </a:prstGeom>
          <a:ln w="38100">
            <a:solidFill>
              <a:srgbClr val="404040"/>
            </a:solidFill>
            <a:prstDash val="solid"/>
          </a:ln>
        </p:spPr>
        <p:txBody>
          <a:bodyPr/>
          <a:p/>
        </p:txBody>
      </p:sp>
      <p:sp>
        <p:nvSpPr>
          <p:cNvPr id="6" name="pagina1-text-5"/>
          <p:cNvSpPr/>
          <p:nvPr/>
        </p:nvSpPr>
        <p:spPr>
          <a:xfrm>
            <a:off x="4953000" y="1651000"/>
            <a:ext cx="3810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900" dirty="0">
                <a:solidFill>
                  <a:srgbClr val="22222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Computador</a:t>
            </a:r>
            <a:endParaRPr lang="en-US" sz="1900" dirty="0"/>
          </a:p>
        </p:txBody>
      </p:sp>
      <p:sp>
        <p:nvSpPr>
          <p:cNvPr id="7" name="pagina1-shape-6"/>
          <p:cNvSpPr/>
          <p:nvPr/>
        </p:nvSpPr>
        <p:spPr>
          <a:xfrm>
            <a:off x="4953000" y="2095500"/>
            <a:ext cx="10414000" cy="5588000"/>
          </a:xfrm>
          <a:prstGeom prst="rect">
            <a:avLst/>
          </a:prstGeom>
          <a:ln w="38100">
            <a:solidFill>
              <a:srgbClr val="404040"/>
            </a:solidFill>
            <a:prstDash val="solid"/>
          </a:ln>
        </p:spPr>
        <p:txBody>
          <a:bodyPr/>
          <a:p/>
        </p:txBody>
      </p:sp>
      <p:sp>
        <p:nvSpPr>
          <p:cNvPr id="8" name="pagina1-shape-7"/>
          <p:cNvSpPr/>
          <p:nvPr/>
        </p:nvSpPr>
        <p:spPr>
          <a:xfrm>
            <a:off x="4953000" y="2095500"/>
            <a:ext cx="10414000" cy="228600"/>
          </a:xfrm>
          <a:prstGeom prst="rect">
            <a:avLst/>
          </a:prstGeom>
          <a:solidFill>
            <a:srgbClr val="F2F4F7"/>
          </a:solidFill>
          <a:ln/>
        </p:spPr>
        <p:txBody>
          <a:bodyPr/>
          <a:p/>
        </p:txBody>
      </p:sp>
      <p:sp>
        <p:nvSpPr>
          <p:cNvPr id="9" name="pagina1-text-8"/>
          <p:cNvSpPr/>
          <p:nvPr/>
        </p:nvSpPr>
        <p:spPr>
          <a:xfrm>
            <a:off x="1016000" y="8572500"/>
            <a:ext cx="12446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100" dirty="0">
                <a:solidFill>
                  <a:srgbClr val="5F66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Desenvolvimento Web e Móvel · UC02833 Conceber aplicações para a web na vertente frontend · Semana 2 · Aula 3 · Modelo</a:t>
            </a:r>
            <a:endParaRPr lang="en-US" sz="1100" dirty="0"/>
          </a:p>
        </p:txBody>
      </p:sp>
      <p:sp>
        <p:nvSpPr>
          <p:cNvPr id="10" name="pagina1-text-9"/>
          <p:cNvSpPr/>
          <p:nvPr/>
        </p:nvSpPr>
        <p:spPr>
          <a:xfrm>
            <a:off x="14986000" y="8572500"/>
            <a:ext cx="508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altLang="en-US" sz="1100" dirty="0">
                <a:solidFill>
                  <a:srgbClr val="5F66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5</a:t>
            </a:r>
            <a:endParaRPr lang="en-US" sz="1100" dirty="0"/>
          </a:p>
        </p:txBody>
      </p:sp>
      <p:sp>
        <p:nvSpPr>
          <p:cNvPr id="6" name="exemplo-shape-5"/>
          <p:cNvSpPr/>
          <p:nvPr/>
        </p:nvSpPr>
        <p:spPr>
          <a:xfrm>
            <a:off x="1242569" y="2413507"/>
            <a:ext cx="2463800" cy="482600"/>
          </a:xfrm>
          <a:prstGeom prst="rect">
            <a:avLst/>
          </a:prstGeom>
          <a:solidFill>
            <a:srgbClr val="E6E6E6"/>
          </a:solidFill>
          <a:ln w="12700">
            <a:solidFill>
              <a:srgbClr val="8C8C8C"/>
            </a:solidFill>
            <a:prstDash val="solid"/>
          </a:ln>
        </p:spPr>
        <p:txBody>
          <a:bodyPr/>
          <a:p/>
        </p:txBody>
      </p:sp>
      <p:sp>
        <p:nvSpPr>
          <p:cNvPr id="7" name="exemplo-text-6"/>
          <p:cNvSpPr/>
          <p:nvPr/>
        </p:nvSpPr>
        <p:spPr>
          <a:xfrm>
            <a:off x="1369569" y="2527807"/>
            <a:ext cx="63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200" dirty="0">
                <a:solidFill>
                  <a:srgbClr val="4040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CAV</a:t>
            </a:r>
            <a:endParaRPr lang="en-US" sz="1200" dirty="0"/>
          </a:p>
        </p:txBody>
      </p:sp>
      <p:sp>
        <p:nvSpPr>
          <p:cNvPr id="8" name="exemplo-shape-7"/>
          <p:cNvSpPr/>
          <p:nvPr/>
        </p:nvSpPr>
        <p:spPr>
          <a:xfrm>
            <a:off x="3236469" y="2477007"/>
            <a:ext cx="304800" cy="30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8C8C8C"/>
            </a:solidFill>
            <a:prstDash val="solid"/>
          </a:ln>
        </p:spPr>
        <p:txBody>
          <a:bodyPr/>
          <a:p/>
        </p:txBody>
      </p:sp>
      <p:sp>
        <p:nvSpPr>
          <p:cNvPr id="9" name="exemplo-shape-8"/>
          <p:cNvSpPr/>
          <p:nvPr/>
        </p:nvSpPr>
        <p:spPr>
          <a:xfrm>
            <a:off x="3299969" y="2553207"/>
            <a:ext cx="177800" cy="38100"/>
          </a:xfrm>
          <a:prstGeom prst="rect">
            <a:avLst/>
          </a:prstGeom>
          <a:solidFill>
            <a:srgbClr val="404040"/>
          </a:solidFill>
          <a:ln/>
        </p:spPr>
        <p:txBody>
          <a:bodyPr/>
          <a:p/>
        </p:txBody>
      </p:sp>
      <p:sp>
        <p:nvSpPr>
          <p:cNvPr id="10" name="exemplo-shape-9"/>
          <p:cNvSpPr/>
          <p:nvPr/>
        </p:nvSpPr>
        <p:spPr>
          <a:xfrm>
            <a:off x="3299969" y="2629407"/>
            <a:ext cx="177800" cy="38100"/>
          </a:xfrm>
          <a:prstGeom prst="rect">
            <a:avLst/>
          </a:prstGeom>
          <a:solidFill>
            <a:srgbClr val="404040"/>
          </a:solidFill>
          <a:ln/>
        </p:spPr>
        <p:txBody>
          <a:bodyPr/>
          <a:p/>
        </p:txBody>
      </p:sp>
      <p:sp>
        <p:nvSpPr>
          <p:cNvPr id="11" name="exemplo-shape-10"/>
          <p:cNvSpPr/>
          <p:nvPr/>
        </p:nvSpPr>
        <p:spPr>
          <a:xfrm>
            <a:off x="3299969" y="2705607"/>
            <a:ext cx="177800" cy="38100"/>
          </a:xfrm>
          <a:prstGeom prst="rect">
            <a:avLst/>
          </a:prstGeom>
          <a:solidFill>
            <a:srgbClr val="404040"/>
          </a:solidFill>
          <a:ln/>
        </p:spPr>
        <p:txBody>
          <a:bodyPr/>
          <a:p/>
        </p:txBody>
      </p:sp>
      <p:sp>
        <p:nvSpPr>
          <p:cNvPr id="12" name="exemplo-shape-11"/>
          <p:cNvSpPr/>
          <p:nvPr/>
        </p:nvSpPr>
        <p:spPr>
          <a:xfrm>
            <a:off x="1242569" y="3048507"/>
            <a:ext cx="2463800" cy="1333500"/>
          </a:xfrm>
          <a:prstGeom prst="rect">
            <a:avLst/>
          </a:prstGeom>
          <a:solidFill>
            <a:srgbClr val="E6E6E6"/>
          </a:solidFill>
          <a:ln w="12700">
            <a:solidFill>
              <a:srgbClr val="8C8C8C"/>
            </a:solidFill>
            <a:prstDash val="solid"/>
          </a:ln>
        </p:spPr>
        <p:txBody>
          <a:bodyPr/>
          <a:p/>
        </p:txBody>
      </p:sp>
      <p:sp>
        <p:nvSpPr>
          <p:cNvPr id="13" name="exemplo-shape-12"/>
          <p:cNvSpPr/>
          <p:nvPr/>
        </p:nvSpPr>
        <p:spPr>
          <a:xfrm>
            <a:off x="1394969" y="3175507"/>
            <a:ext cx="2159000" cy="50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8C8C8C"/>
            </a:solidFill>
            <a:prstDash val="solid"/>
          </a:ln>
        </p:spPr>
        <p:txBody>
          <a:bodyPr/>
          <a:p/>
        </p:txBody>
      </p:sp>
      <p:sp>
        <p:nvSpPr>
          <p:cNvPr id="14" name="exemplo-shape-13"/>
          <p:cNvSpPr/>
          <p:nvPr/>
        </p:nvSpPr>
        <p:spPr>
          <a:xfrm>
            <a:off x="1394969" y="3175507"/>
            <a:ext cx="2159000" cy="508000"/>
          </a:xfrm>
          <a:prstGeom prst="line">
            <a:avLst/>
          </a:prstGeom>
          <a:ln w="12700">
            <a:solidFill>
              <a:srgbClr val="8C8C8C"/>
            </a:solidFill>
            <a:prstDash val="solid"/>
          </a:ln>
        </p:spPr>
        <p:txBody>
          <a:bodyPr/>
          <a:p/>
        </p:txBody>
      </p:sp>
      <p:sp>
        <p:nvSpPr>
          <p:cNvPr id="15" name="exemplo-shape-14"/>
          <p:cNvSpPr/>
          <p:nvPr/>
        </p:nvSpPr>
        <p:spPr>
          <a:xfrm flipV="1">
            <a:off x="1394969" y="3175507"/>
            <a:ext cx="2159000" cy="508000"/>
          </a:xfrm>
          <a:prstGeom prst="line">
            <a:avLst/>
          </a:prstGeom>
          <a:ln w="12700">
            <a:solidFill>
              <a:srgbClr val="8C8C8C"/>
            </a:solidFill>
            <a:prstDash val="solid"/>
          </a:ln>
        </p:spPr>
        <p:txBody>
          <a:bodyPr/>
          <a:p/>
        </p:txBody>
      </p:sp>
      <p:sp>
        <p:nvSpPr>
          <p:cNvPr id="16" name="exemplo-text-15"/>
          <p:cNvSpPr/>
          <p:nvPr/>
        </p:nvSpPr>
        <p:spPr>
          <a:xfrm>
            <a:off x="1394969" y="3772407"/>
            <a:ext cx="2159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4040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Corre connosco!</a:t>
            </a:r>
            <a:endParaRPr lang="en-US" sz="1400" dirty="0"/>
          </a:p>
        </p:txBody>
      </p:sp>
      <p:sp>
        <p:nvSpPr>
          <p:cNvPr id="17" name="exemplo-shape-16"/>
          <p:cNvSpPr/>
          <p:nvPr/>
        </p:nvSpPr>
        <p:spPr>
          <a:xfrm>
            <a:off x="1394969" y="4102607"/>
            <a:ext cx="1397000" cy="76200"/>
          </a:xfrm>
          <a:prstGeom prst="rect">
            <a:avLst/>
          </a:prstGeom>
          <a:solidFill>
            <a:srgbClr val="BFBFBF"/>
          </a:solidFill>
          <a:ln/>
        </p:spPr>
        <p:txBody>
          <a:bodyPr/>
          <a:p/>
        </p:txBody>
      </p:sp>
      <p:sp>
        <p:nvSpPr>
          <p:cNvPr id="18" name="exemplo-shape-17"/>
          <p:cNvSpPr/>
          <p:nvPr/>
        </p:nvSpPr>
        <p:spPr>
          <a:xfrm>
            <a:off x="1394969" y="4255007"/>
            <a:ext cx="1397000" cy="76200"/>
          </a:xfrm>
          <a:prstGeom prst="rect">
            <a:avLst/>
          </a:prstGeom>
          <a:solidFill>
            <a:srgbClr val="BFBFBF"/>
          </a:solidFill>
          <a:ln/>
        </p:spPr>
        <p:txBody>
          <a:bodyPr/>
          <a:p/>
        </p:txBody>
      </p:sp>
      <p:sp>
        <p:nvSpPr>
          <p:cNvPr id="19" name="exemplo-shape-18"/>
          <p:cNvSpPr/>
          <p:nvPr/>
        </p:nvSpPr>
        <p:spPr>
          <a:xfrm>
            <a:off x="1394969" y="4382007"/>
            <a:ext cx="1016000" cy="254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404040"/>
            </a:solidFill>
            <a:prstDash val="solid"/>
          </a:ln>
        </p:spPr>
        <p:txBody>
          <a:bodyPr/>
          <a:p/>
        </p:txBody>
      </p:sp>
      <p:sp>
        <p:nvSpPr>
          <p:cNvPr id="20" name="exemplo-shape-19"/>
          <p:cNvSpPr/>
          <p:nvPr/>
        </p:nvSpPr>
        <p:spPr>
          <a:xfrm>
            <a:off x="1242569" y="4572507"/>
            <a:ext cx="2463800" cy="698500"/>
          </a:xfrm>
          <a:prstGeom prst="rect">
            <a:avLst/>
          </a:prstGeom>
          <a:solidFill>
            <a:srgbClr val="E6E6E6"/>
          </a:solidFill>
          <a:ln w="12700">
            <a:solidFill>
              <a:srgbClr val="8C8C8C"/>
            </a:solidFill>
            <a:prstDash val="solid"/>
          </a:ln>
        </p:spPr>
        <p:txBody>
          <a:bodyPr/>
          <a:p/>
        </p:txBody>
      </p:sp>
      <p:sp>
        <p:nvSpPr>
          <p:cNvPr id="21" name="exemplo-text-20"/>
          <p:cNvSpPr/>
          <p:nvPr/>
        </p:nvSpPr>
        <p:spPr>
          <a:xfrm>
            <a:off x="1394969" y="4661407"/>
            <a:ext cx="2159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200" dirty="0">
                <a:solidFill>
                  <a:srgbClr val="4040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Treinos e horários</a:t>
            </a:r>
            <a:endParaRPr lang="en-US" sz="1200" dirty="0"/>
          </a:p>
        </p:txBody>
      </p:sp>
      <p:sp>
        <p:nvSpPr>
          <p:cNvPr id="22" name="exemplo-shape-21"/>
          <p:cNvSpPr/>
          <p:nvPr/>
        </p:nvSpPr>
        <p:spPr>
          <a:xfrm>
            <a:off x="1394969" y="4966207"/>
            <a:ext cx="1143000" cy="76200"/>
          </a:xfrm>
          <a:prstGeom prst="rect">
            <a:avLst/>
          </a:prstGeom>
          <a:solidFill>
            <a:srgbClr val="BFBFBF"/>
          </a:solidFill>
          <a:ln/>
        </p:spPr>
        <p:txBody>
          <a:bodyPr/>
          <a:p/>
        </p:txBody>
      </p:sp>
      <p:sp>
        <p:nvSpPr>
          <p:cNvPr id="23" name="exemplo-shape-22"/>
          <p:cNvSpPr/>
          <p:nvPr/>
        </p:nvSpPr>
        <p:spPr>
          <a:xfrm>
            <a:off x="1242569" y="5398007"/>
            <a:ext cx="2463800" cy="698500"/>
          </a:xfrm>
          <a:prstGeom prst="rect">
            <a:avLst/>
          </a:prstGeom>
          <a:solidFill>
            <a:srgbClr val="E6E6E6"/>
          </a:solidFill>
          <a:ln w="12700">
            <a:solidFill>
              <a:srgbClr val="8C8C8C"/>
            </a:solidFill>
            <a:prstDash val="solid"/>
          </a:ln>
        </p:spPr>
        <p:txBody>
          <a:bodyPr/>
          <a:p/>
        </p:txBody>
      </p:sp>
      <p:sp>
        <p:nvSpPr>
          <p:cNvPr id="24" name="exemplo-text-23"/>
          <p:cNvSpPr/>
          <p:nvPr/>
        </p:nvSpPr>
        <p:spPr>
          <a:xfrm>
            <a:off x="1394969" y="5486907"/>
            <a:ext cx="2159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200" dirty="0">
                <a:solidFill>
                  <a:srgbClr val="4040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Resultados</a:t>
            </a:r>
            <a:endParaRPr lang="en-US" sz="1200" dirty="0"/>
          </a:p>
        </p:txBody>
      </p:sp>
      <p:sp>
        <p:nvSpPr>
          <p:cNvPr id="25" name="exemplo-shape-24"/>
          <p:cNvSpPr/>
          <p:nvPr/>
        </p:nvSpPr>
        <p:spPr>
          <a:xfrm>
            <a:off x="1394969" y="5791707"/>
            <a:ext cx="1143000" cy="76200"/>
          </a:xfrm>
          <a:prstGeom prst="rect">
            <a:avLst/>
          </a:prstGeom>
          <a:solidFill>
            <a:srgbClr val="BFBFBF"/>
          </a:solidFill>
          <a:ln/>
        </p:spPr>
        <p:txBody>
          <a:bodyPr/>
          <a:p/>
        </p:txBody>
      </p:sp>
      <p:sp>
        <p:nvSpPr>
          <p:cNvPr id="26" name="exemplo-shape-25"/>
          <p:cNvSpPr/>
          <p:nvPr/>
        </p:nvSpPr>
        <p:spPr>
          <a:xfrm>
            <a:off x="1242569" y="6223507"/>
            <a:ext cx="2463800" cy="698500"/>
          </a:xfrm>
          <a:prstGeom prst="rect">
            <a:avLst/>
          </a:prstGeom>
          <a:solidFill>
            <a:srgbClr val="E6E6E6"/>
          </a:solidFill>
          <a:ln w="12700">
            <a:solidFill>
              <a:srgbClr val="8C8C8C"/>
            </a:solidFill>
            <a:prstDash val="solid"/>
          </a:ln>
        </p:spPr>
        <p:txBody>
          <a:bodyPr/>
          <a:p/>
        </p:txBody>
      </p:sp>
      <p:sp>
        <p:nvSpPr>
          <p:cNvPr id="27" name="exemplo-text-26"/>
          <p:cNvSpPr/>
          <p:nvPr/>
        </p:nvSpPr>
        <p:spPr>
          <a:xfrm>
            <a:off x="1394969" y="6312407"/>
            <a:ext cx="2159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200" dirty="0">
                <a:solidFill>
                  <a:srgbClr val="4040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Inscrições</a:t>
            </a:r>
            <a:endParaRPr lang="en-US" sz="1200" dirty="0"/>
          </a:p>
        </p:txBody>
      </p:sp>
      <p:sp>
        <p:nvSpPr>
          <p:cNvPr id="28" name="exemplo-shape-27"/>
          <p:cNvSpPr/>
          <p:nvPr/>
        </p:nvSpPr>
        <p:spPr>
          <a:xfrm>
            <a:off x="1394969" y="6617207"/>
            <a:ext cx="1143000" cy="76200"/>
          </a:xfrm>
          <a:prstGeom prst="rect">
            <a:avLst/>
          </a:prstGeom>
          <a:solidFill>
            <a:srgbClr val="BFBFBF"/>
          </a:solidFill>
          <a:ln/>
        </p:spPr>
        <p:txBody>
          <a:bodyPr/>
          <a:p/>
        </p:txBody>
      </p:sp>
      <p:sp>
        <p:nvSpPr>
          <p:cNvPr id="29" name="exemplo-shape-28"/>
          <p:cNvSpPr/>
          <p:nvPr/>
        </p:nvSpPr>
        <p:spPr>
          <a:xfrm>
            <a:off x="1242569" y="7049007"/>
            <a:ext cx="2463800" cy="317500"/>
          </a:xfrm>
          <a:prstGeom prst="rect">
            <a:avLst/>
          </a:prstGeom>
          <a:solidFill>
            <a:srgbClr val="E6E6E6"/>
          </a:solidFill>
          <a:ln w="12700">
            <a:solidFill>
              <a:srgbClr val="8C8C8C"/>
            </a:solidFill>
            <a:prstDash val="solid"/>
          </a:ln>
        </p:spPr>
        <p:txBody>
          <a:bodyPr/>
          <a:p/>
        </p:txBody>
      </p:sp>
      <p:sp>
        <p:nvSpPr>
          <p:cNvPr id="30" name="exemplo-text-29"/>
          <p:cNvSpPr/>
          <p:nvPr/>
        </p:nvSpPr>
        <p:spPr>
          <a:xfrm>
            <a:off x="1242569" y="7125207"/>
            <a:ext cx="24638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1100" dirty="0">
                <a:solidFill>
                  <a:srgbClr val="4040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Contactos · Redes sociais</a:t>
            </a:r>
            <a:endParaRPr lang="en-US" sz="1100" dirty="0"/>
          </a:p>
        </p:txBody>
      </p:sp>
      <p:sp>
        <p:nvSpPr>
          <p:cNvPr id="34" name="exemplo-shape-33"/>
          <p:cNvSpPr/>
          <p:nvPr/>
        </p:nvSpPr>
        <p:spPr>
          <a:xfrm>
            <a:off x="5213096" y="2540507"/>
            <a:ext cx="9525000" cy="508000"/>
          </a:xfrm>
          <a:prstGeom prst="rect">
            <a:avLst/>
          </a:prstGeom>
          <a:solidFill>
            <a:srgbClr val="E6E6E6"/>
          </a:solidFill>
          <a:ln w="12700">
            <a:solidFill>
              <a:srgbClr val="8C8C8C"/>
            </a:solidFill>
            <a:prstDash val="solid"/>
          </a:ln>
        </p:spPr>
        <p:txBody>
          <a:bodyPr/>
          <a:p/>
        </p:txBody>
      </p:sp>
      <p:sp>
        <p:nvSpPr>
          <p:cNvPr id="35" name="exemplo-text-34"/>
          <p:cNvSpPr/>
          <p:nvPr/>
        </p:nvSpPr>
        <p:spPr>
          <a:xfrm>
            <a:off x="5403596" y="2667507"/>
            <a:ext cx="63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200" dirty="0">
                <a:solidFill>
                  <a:srgbClr val="4040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CAV</a:t>
            </a:r>
            <a:endParaRPr lang="en-US" sz="1200" dirty="0"/>
          </a:p>
        </p:txBody>
      </p:sp>
      <p:sp>
        <p:nvSpPr>
          <p:cNvPr id="36" name="exemplo-text-35"/>
          <p:cNvSpPr/>
          <p:nvPr/>
        </p:nvSpPr>
        <p:spPr>
          <a:xfrm>
            <a:off x="6229096" y="2667507"/>
            <a:ext cx="787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300" dirty="0">
                <a:solidFill>
                  <a:srgbClr val="4040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Início · O clube · Treinos e horários · Resultados · Galeria · Inscrições e contactos</a:t>
            </a:r>
            <a:endParaRPr lang="en-US" sz="1300" dirty="0"/>
          </a:p>
        </p:txBody>
      </p:sp>
      <p:sp>
        <p:nvSpPr>
          <p:cNvPr id="37" name="exemplo-shape-36"/>
          <p:cNvSpPr/>
          <p:nvPr/>
        </p:nvSpPr>
        <p:spPr>
          <a:xfrm>
            <a:off x="5213096" y="3239007"/>
            <a:ext cx="9525000" cy="1333500"/>
          </a:xfrm>
          <a:prstGeom prst="rect">
            <a:avLst/>
          </a:prstGeom>
          <a:solidFill>
            <a:srgbClr val="E6E6E6"/>
          </a:solidFill>
          <a:ln w="12700">
            <a:solidFill>
              <a:srgbClr val="8C8C8C"/>
            </a:solidFill>
            <a:prstDash val="solid"/>
          </a:ln>
        </p:spPr>
        <p:txBody>
          <a:bodyPr/>
          <a:p/>
        </p:txBody>
      </p:sp>
      <p:sp>
        <p:nvSpPr>
          <p:cNvPr id="38" name="exemplo-shape-37"/>
          <p:cNvSpPr/>
          <p:nvPr/>
        </p:nvSpPr>
        <p:spPr>
          <a:xfrm>
            <a:off x="5403596" y="3429507"/>
            <a:ext cx="2794000" cy="952500"/>
          </a:xfrm>
          <a:prstGeom prst="rect">
            <a:avLst/>
          </a:prstGeom>
          <a:solidFill>
            <a:srgbClr val="FFFFFF"/>
          </a:solidFill>
          <a:ln w="12700">
            <a:solidFill>
              <a:srgbClr val="8C8C8C"/>
            </a:solidFill>
            <a:prstDash val="solid"/>
          </a:ln>
        </p:spPr>
        <p:txBody>
          <a:bodyPr/>
          <a:p/>
        </p:txBody>
      </p:sp>
      <p:sp>
        <p:nvSpPr>
          <p:cNvPr id="39" name="exemplo-shape-38"/>
          <p:cNvSpPr/>
          <p:nvPr/>
        </p:nvSpPr>
        <p:spPr>
          <a:xfrm>
            <a:off x="5403596" y="3429507"/>
            <a:ext cx="2794000" cy="952500"/>
          </a:xfrm>
          <a:prstGeom prst="line">
            <a:avLst/>
          </a:prstGeom>
          <a:ln w="12700">
            <a:solidFill>
              <a:srgbClr val="8C8C8C"/>
            </a:solidFill>
            <a:prstDash val="solid"/>
          </a:ln>
        </p:spPr>
        <p:txBody>
          <a:bodyPr/>
          <a:p/>
        </p:txBody>
      </p:sp>
      <p:sp>
        <p:nvSpPr>
          <p:cNvPr id="40" name="exemplo-shape-39"/>
          <p:cNvSpPr/>
          <p:nvPr/>
        </p:nvSpPr>
        <p:spPr>
          <a:xfrm flipV="1">
            <a:off x="5403596" y="3429507"/>
            <a:ext cx="2794000" cy="952500"/>
          </a:xfrm>
          <a:prstGeom prst="line">
            <a:avLst/>
          </a:prstGeom>
          <a:ln w="12700">
            <a:solidFill>
              <a:srgbClr val="8C8C8C"/>
            </a:solidFill>
            <a:prstDash val="solid"/>
          </a:ln>
        </p:spPr>
        <p:txBody>
          <a:bodyPr/>
          <a:p/>
        </p:txBody>
      </p:sp>
      <p:sp>
        <p:nvSpPr>
          <p:cNvPr id="41" name="exemplo-text-40"/>
          <p:cNvSpPr/>
          <p:nvPr/>
        </p:nvSpPr>
        <p:spPr>
          <a:xfrm>
            <a:off x="8642096" y="3429507"/>
            <a:ext cx="4191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300" dirty="0">
                <a:solidFill>
                  <a:srgbClr val="4040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Corre connosco!</a:t>
            </a:r>
            <a:endParaRPr lang="en-US" sz="2300" dirty="0"/>
          </a:p>
        </p:txBody>
      </p:sp>
      <p:sp>
        <p:nvSpPr>
          <p:cNvPr id="42" name="exemplo-shape-41"/>
          <p:cNvSpPr/>
          <p:nvPr/>
        </p:nvSpPr>
        <p:spPr>
          <a:xfrm>
            <a:off x="8642096" y="3937507"/>
            <a:ext cx="2921000" cy="101600"/>
          </a:xfrm>
          <a:prstGeom prst="rect">
            <a:avLst/>
          </a:prstGeom>
          <a:solidFill>
            <a:srgbClr val="BFBFBF"/>
          </a:solidFill>
          <a:ln/>
        </p:spPr>
        <p:txBody>
          <a:bodyPr/>
          <a:p/>
        </p:txBody>
      </p:sp>
      <p:sp>
        <p:nvSpPr>
          <p:cNvPr id="43" name="exemplo-shape-42"/>
          <p:cNvSpPr/>
          <p:nvPr/>
        </p:nvSpPr>
        <p:spPr>
          <a:xfrm>
            <a:off x="8642096" y="4140707"/>
            <a:ext cx="2921000" cy="101600"/>
          </a:xfrm>
          <a:prstGeom prst="rect">
            <a:avLst/>
          </a:prstGeom>
          <a:solidFill>
            <a:srgbClr val="BFBFBF"/>
          </a:solidFill>
          <a:ln/>
        </p:spPr>
        <p:txBody>
          <a:bodyPr/>
          <a:p/>
        </p:txBody>
      </p:sp>
      <p:sp>
        <p:nvSpPr>
          <p:cNvPr id="44" name="exemplo-shape-43"/>
          <p:cNvSpPr/>
          <p:nvPr/>
        </p:nvSpPr>
        <p:spPr>
          <a:xfrm>
            <a:off x="8642096" y="4356607"/>
            <a:ext cx="1460500" cy="330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404040"/>
            </a:solidFill>
            <a:prstDash val="solid"/>
          </a:ln>
        </p:spPr>
        <p:txBody>
          <a:bodyPr/>
          <a:p/>
        </p:txBody>
      </p:sp>
      <p:sp>
        <p:nvSpPr>
          <p:cNvPr id="45" name="exemplo-shape-44"/>
          <p:cNvSpPr/>
          <p:nvPr/>
        </p:nvSpPr>
        <p:spPr>
          <a:xfrm>
            <a:off x="5213096" y="4826507"/>
            <a:ext cx="2984500" cy="1206500"/>
          </a:xfrm>
          <a:prstGeom prst="rect">
            <a:avLst/>
          </a:prstGeom>
          <a:solidFill>
            <a:srgbClr val="E6E6E6"/>
          </a:solidFill>
          <a:ln w="12700">
            <a:solidFill>
              <a:srgbClr val="8C8C8C"/>
            </a:solidFill>
            <a:prstDash val="solid"/>
          </a:ln>
        </p:spPr>
        <p:txBody>
          <a:bodyPr/>
          <a:p/>
        </p:txBody>
      </p:sp>
      <p:sp>
        <p:nvSpPr>
          <p:cNvPr id="46" name="exemplo-text-45"/>
          <p:cNvSpPr/>
          <p:nvPr/>
        </p:nvSpPr>
        <p:spPr>
          <a:xfrm>
            <a:off x="5403596" y="4991607"/>
            <a:ext cx="254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300" dirty="0">
                <a:solidFill>
                  <a:srgbClr val="4040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Treinos e horários</a:t>
            </a:r>
            <a:endParaRPr lang="en-US" sz="1300" dirty="0"/>
          </a:p>
        </p:txBody>
      </p:sp>
      <p:sp>
        <p:nvSpPr>
          <p:cNvPr id="47" name="exemplo-shape-46"/>
          <p:cNvSpPr/>
          <p:nvPr/>
        </p:nvSpPr>
        <p:spPr>
          <a:xfrm>
            <a:off x="5403596" y="5398007"/>
            <a:ext cx="1651000" cy="88900"/>
          </a:xfrm>
          <a:prstGeom prst="rect">
            <a:avLst/>
          </a:prstGeom>
          <a:solidFill>
            <a:srgbClr val="BFBFBF"/>
          </a:solidFill>
          <a:ln/>
        </p:spPr>
        <p:txBody>
          <a:bodyPr/>
          <a:p/>
        </p:txBody>
      </p:sp>
      <p:sp>
        <p:nvSpPr>
          <p:cNvPr id="48" name="exemplo-shape-47"/>
          <p:cNvSpPr/>
          <p:nvPr/>
        </p:nvSpPr>
        <p:spPr>
          <a:xfrm>
            <a:off x="5403596" y="5588507"/>
            <a:ext cx="1651000" cy="88900"/>
          </a:xfrm>
          <a:prstGeom prst="rect">
            <a:avLst/>
          </a:prstGeom>
          <a:solidFill>
            <a:srgbClr val="BFBFBF"/>
          </a:solidFill>
          <a:ln/>
        </p:spPr>
        <p:txBody>
          <a:bodyPr/>
          <a:p/>
        </p:txBody>
      </p:sp>
      <p:sp>
        <p:nvSpPr>
          <p:cNvPr id="49" name="exemplo-shape-48"/>
          <p:cNvSpPr/>
          <p:nvPr/>
        </p:nvSpPr>
        <p:spPr>
          <a:xfrm>
            <a:off x="8476996" y="4826507"/>
            <a:ext cx="2984500" cy="1206500"/>
          </a:xfrm>
          <a:prstGeom prst="rect">
            <a:avLst/>
          </a:prstGeom>
          <a:solidFill>
            <a:srgbClr val="E6E6E6"/>
          </a:solidFill>
          <a:ln w="12700">
            <a:solidFill>
              <a:srgbClr val="8C8C8C"/>
            </a:solidFill>
            <a:prstDash val="solid"/>
          </a:ln>
        </p:spPr>
        <p:txBody>
          <a:bodyPr/>
          <a:p/>
        </p:txBody>
      </p:sp>
      <p:sp>
        <p:nvSpPr>
          <p:cNvPr id="50" name="exemplo-text-49"/>
          <p:cNvSpPr/>
          <p:nvPr/>
        </p:nvSpPr>
        <p:spPr>
          <a:xfrm>
            <a:off x="8667496" y="4991607"/>
            <a:ext cx="254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300" dirty="0">
                <a:solidFill>
                  <a:srgbClr val="4040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Resultados</a:t>
            </a:r>
            <a:endParaRPr lang="en-US" sz="1300" dirty="0"/>
          </a:p>
        </p:txBody>
      </p:sp>
      <p:sp>
        <p:nvSpPr>
          <p:cNvPr id="51" name="exemplo-shape-50"/>
          <p:cNvSpPr/>
          <p:nvPr/>
        </p:nvSpPr>
        <p:spPr>
          <a:xfrm>
            <a:off x="8667496" y="5398007"/>
            <a:ext cx="1651000" cy="88900"/>
          </a:xfrm>
          <a:prstGeom prst="rect">
            <a:avLst/>
          </a:prstGeom>
          <a:solidFill>
            <a:srgbClr val="BFBFBF"/>
          </a:solidFill>
          <a:ln/>
        </p:spPr>
        <p:txBody>
          <a:bodyPr/>
          <a:p/>
        </p:txBody>
      </p:sp>
      <p:sp>
        <p:nvSpPr>
          <p:cNvPr id="52" name="exemplo-shape-51"/>
          <p:cNvSpPr/>
          <p:nvPr/>
        </p:nvSpPr>
        <p:spPr>
          <a:xfrm>
            <a:off x="8667496" y="5588507"/>
            <a:ext cx="1651000" cy="88900"/>
          </a:xfrm>
          <a:prstGeom prst="rect">
            <a:avLst/>
          </a:prstGeom>
          <a:solidFill>
            <a:srgbClr val="BFBFBF"/>
          </a:solidFill>
          <a:ln/>
        </p:spPr>
        <p:txBody>
          <a:bodyPr/>
          <a:p/>
        </p:txBody>
      </p:sp>
      <p:sp>
        <p:nvSpPr>
          <p:cNvPr id="53" name="exemplo-shape-52"/>
          <p:cNvSpPr/>
          <p:nvPr/>
        </p:nvSpPr>
        <p:spPr>
          <a:xfrm>
            <a:off x="11740896" y="4826507"/>
            <a:ext cx="2997200" cy="1206500"/>
          </a:xfrm>
          <a:prstGeom prst="rect">
            <a:avLst/>
          </a:prstGeom>
          <a:solidFill>
            <a:srgbClr val="E6E6E6"/>
          </a:solidFill>
          <a:ln w="12700">
            <a:solidFill>
              <a:srgbClr val="8C8C8C"/>
            </a:solidFill>
            <a:prstDash val="solid"/>
          </a:ln>
        </p:spPr>
        <p:txBody>
          <a:bodyPr/>
          <a:p/>
        </p:txBody>
      </p:sp>
      <p:sp>
        <p:nvSpPr>
          <p:cNvPr id="54" name="exemplo-text-53"/>
          <p:cNvSpPr/>
          <p:nvPr/>
        </p:nvSpPr>
        <p:spPr>
          <a:xfrm>
            <a:off x="11931396" y="4991607"/>
            <a:ext cx="254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300" dirty="0">
                <a:solidFill>
                  <a:srgbClr val="4040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Inscrições</a:t>
            </a:r>
            <a:endParaRPr lang="en-US" sz="1300" dirty="0"/>
          </a:p>
        </p:txBody>
      </p:sp>
      <p:sp>
        <p:nvSpPr>
          <p:cNvPr id="55" name="exemplo-shape-54"/>
          <p:cNvSpPr/>
          <p:nvPr/>
        </p:nvSpPr>
        <p:spPr>
          <a:xfrm>
            <a:off x="11931396" y="5398007"/>
            <a:ext cx="1651000" cy="88900"/>
          </a:xfrm>
          <a:prstGeom prst="rect">
            <a:avLst/>
          </a:prstGeom>
          <a:solidFill>
            <a:srgbClr val="BFBFBF"/>
          </a:solidFill>
          <a:ln/>
        </p:spPr>
        <p:txBody>
          <a:bodyPr/>
          <a:p/>
        </p:txBody>
      </p:sp>
      <p:sp>
        <p:nvSpPr>
          <p:cNvPr id="56" name="exemplo-shape-55"/>
          <p:cNvSpPr/>
          <p:nvPr/>
        </p:nvSpPr>
        <p:spPr>
          <a:xfrm>
            <a:off x="11931396" y="5588507"/>
            <a:ext cx="1651000" cy="88900"/>
          </a:xfrm>
          <a:prstGeom prst="rect">
            <a:avLst/>
          </a:prstGeom>
          <a:solidFill>
            <a:srgbClr val="BFBFBF"/>
          </a:solidFill>
          <a:ln/>
        </p:spPr>
        <p:txBody>
          <a:bodyPr/>
          <a:p/>
        </p:txBody>
      </p:sp>
      <p:sp>
        <p:nvSpPr>
          <p:cNvPr id="57" name="exemplo-shape-56"/>
          <p:cNvSpPr/>
          <p:nvPr/>
        </p:nvSpPr>
        <p:spPr>
          <a:xfrm>
            <a:off x="5213096" y="6287007"/>
            <a:ext cx="9525000" cy="355600"/>
          </a:xfrm>
          <a:prstGeom prst="rect">
            <a:avLst/>
          </a:prstGeom>
          <a:solidFill>
            <a:srgbClr val="E6E6E6"/>
          </a:solidFill>
          <a:ln w="12700">
            <a:solidFill>
              <a:srgbClr val="8C8C8C"/>
            </a:solidFill>
            <a:prstDash val="solid"/>
          </a:ln>
        </p:spPr>
        <p:txBody>
          <a:bodyPr/>
          <a:p/>
        </p:txBody>
      </p:sp>
      <p:sp>
        <p:nvSpPr>
          <p:cNvPr id="58" name="exemplo-text-57"/>
          <p:cNvSpPr/>
          <p:nvPr/>
        </p:nvSpPr>
        <p:spPr>
          <a:xfrm>
            <a:off x="5213096" y="6375907"/>
            <a:ext cx="9525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1200" dirty="0">
                <a:solidFill>
                  <a:srgbClr val="4040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Contactos · Ligações · Redes sociais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gina2-text-1"/>
          <p:cNvSpPr/>
          <p:nvPr/>
        </p:nvSpPr>
        <p:spPr>
          <a:xfrm>
            <a:off x="1016000" y="571500"/>
            <a:ext cx="1143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3000" dirty="0">
                <a:solidFill>
                  <a:srgbClr val="22222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Página 2: O clube</a:t>
            </a:r>
            <a:endParaRPr lang="en-US" sz="3000" dirty="0"/>
          </a:p>
        </p:txBody>
      </p:sp>
      <p:sp>
        <p:nvSpPr>
          <p:cNvPr id="3" name="pagina2-text-2"/>
          <p:cNvSpPr/>
          <p:nvPr/>
        </p:nvSpPr>
        <p:spPr>
          <a:xfrm>
            <a:off x="1016000" y="1206500"/>
            <a:ext cx="7620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300" dirty="0">
                <a:solidFill>
                  <a:srgbClr val="5F66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Primeiro o telemóvel: uma coluna. Depois o computador: os mesmos blocos, pela mesma ordem.</a:t>
            </a:r>
            <a:endParaRPr lang="en-US" sz="1300" dirty="0"/>
          </a:p>
        </p:txBody>
      </p:sp>
      <p:sp>
        <p:nvSpPr>
          <p:cNvPr id="4" name="pagina2-text-3"/>
          <p:cNvSpPr/>
          <p:nvPr/>
        </p:nvSpPr>
        <p:spPr>
          <a:xfrm>
            <a:off x="1016000" y="1651000"/>
            <a:ext cx="3048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900" dirty="0">
                <a:solidFill>
                  <a:srgbClr val="22222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Telemóvel</a:t>
            </a:r>
            <a:endParaRPr lang="en-US" sz="1900" dirty="0"/>
          </a:p>
        </p:txBody>
      </p:sp>
      <p:sp>
        <p:nvSpPr>
          <p:cNvPr id="5" name="pagina2-shape-4"/>
          <p:cNvSpPr/>
          <p:nvPr/>
        </p:nvSpPr>
        <p:spPr>
          <a:xfrm>
            <a:off x="1016000" y="2095500"/>
            <a:ext cx="3175000" cy="5588000"/>
          </a:xfrm>
          <a:prstGeom prst="roundRect">
            <a:avLst>
              <a:gd name="adj" fmla="val 9600"/>
            </a:avLst>
          </a:prstGeom>
          <a:ln w="38100">
            <a:solidFill>
              <a:srgbClr val="404040"/>
            </a:solidFill>
            <a:prstDash val="solid"/>
          </a:ln>
        </p:spPr>
        <p:txBody>
          <a:bodyPr/>
          <a:p/>
        </p:txBody>
      </p:sp>
      <p:sp>
        <p:nvSpPr>
          <p:cNvPr id="6" name="pagina2-text-5"/>
          <p:cNvSpPr/>
          <p:nvPr/>
        </p:nvSpPr>
        <p:spPr>
          <a:xfrm>
            <a:off x="4953000" y="1651000"/>
            <a:ext cx="3810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900" dirty="0">
                <a:solidFill>
                  <a:srgbClr val="22222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Computador</a:t>
            </a:r>
            <a:endParaRPr lang="en-US" sz="1900" dirty="0"/>
          </a:p>
        </p:txBody>
      </p:sp>
      <p:sp>
        <p:nvSpPr>
          <p:cNvPr id="7" name="pagina2-shape-6"/>
          <p:cNvSpPr/>
          <p:nvPr/>
        </p:nvSpPr>
        <p:spPr>
          <a:xfrm>
            <a:off x="4953000" y="2095500"/>
            <a:ext cx="10414000" cy="5588000"/>
          </a:xfrm>
          <a:prstGeom prst="rect">
            <a:avLst/>
          </a:prstGeom>
          <a:ln w="38100">
            <a:solidFill>
              <a:srgbClr val="404040"/>
            </a:solidFill>
            <a:prstDash val="solid"/>
          </a:ln>
        </p:spPr>
        <p:txBody>
          <a:bodyPr/>
          <a:p/>
        </p:txBody>
      </p:sp>
      <p:sp>
        <p:nvSpPr>
          <p:cNvPr id="8" name="pagina2-shape-7"/>
          <p:cNvSpPr/>
          <p:nvPr/>
        </p:nvSpPr>
        <p:spPr>
          <a:xfrm>
            <a:off x="4953000" y="2095500"/>
            <a:ext cx="10414000" cy="228600"/>
          </a:xfrm>
          <a:prstGeom prst="rect">
            <a:avLst/>
          </a:prstGeom>
          <a:solidFill>
            <a:srgbClr val="F2F4F7"/>
          </a:solidFill>
          <a:ln/>
        </p:spPr>
        <p:txBody>
          <a:bodyPr/>
          <a:p/>
        </p:txBody>
      </p:sp>
      <p:sp>
        <p:nvSpPr>
          <p:cNvPr id="9" name="pagina2-text-8"/>
          <p:cNvSpPr/>
          <p:nvPr/>
        </p:nvSpPr>
        <p:spPr>
          <a:xfrm>
            <a:off x="1016000" y="8572500"/>
            <a:ext cx="12446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100" dirty="0">
                <a:solidFill>
                  <a:srgbClr val="5F66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Desenvolvimento Web e Móvel · UC02833 Conceber aplicações para a web na vertente frontend · Semana 2 · Aula 3 · Modelo</a:t>
            </a:r>
            <a:endParaRPr lang="en-US" sz="1100" dirty="0"/>
          </a:p>
        </p:txBody>
      </p:sp>
      <p:sp>
        <p:nvSpPr>
          <p:cNvPr id="10" name="pagina2-text-9"/>
          <p:cNvSpPr/>
          <p:nvPr/>
        </p:nvSpPr>
        <p:spPr>
          <a:xfrm>
            <a:off x="14986000" y="8572500"/>
            <a:ext cx="508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altLang="en-US" sz="1100" dirty="0">
                <a:solidFill>
                  <a:srgbClr val="5F66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6</a:t>
            </a:r>
            <a:endParaRPr lang="en-US" sz="1100" dirty="0"/>
          </a:p>
        </p:txBody>
      </p:sp>
      <p:sp>
        <p:nvSpPr>
          <p:cNvPr id="11" name="Rectangle 10"/>
          <p:cNvSpPr/>
          <p:nvPr/>
        </p:nvSpPr>
        <p:spPr>
          <a:xfrm>
            <a:off x="1197864" y="2459736"/>
            <a:ext cx="2807208" cy="457200"/>
          </a:xfrm>
          <a:prstGeom prst="rect">
            <a:avLst/>
          </a:prstGeom>
          <a:solidFill>
            <a:srgbClr val="E6E6E6"/>
          </a:solidFill>
          <a:ln w="9525">
            <a:solidFill>
              <a:srgbClr val="8C8C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89304" y="2551176"/>
            <a:ext cx="640080" cy="27432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1200" b="1">
                <a:solidFill>
                  <a:srgbClr val="404040"/>
                </a:solidFill>
                <a:latin typeface="Calibri"/>
              </a:rPr>
              <a:t>CAV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66160" y="2542032"/>
            <a:ext cx="301752" cy="301752"/>
          </a:xfrm>
          <a:prstGeom prst="rect">
            <a:avLst/>
          </a:prstGeom>
          <a:solidFill>
            <a:srgbClr val="FFFFFF"/>
          </a:solidFill>
          <a:ln w="9525">
            <a:solidFill>
              <a:srgbClr val="8C8C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30168" y="2615184"/>
            <a:ext cx="173736" cy="36576"/>
          </a:xfrm>
          <a:prstGeom prst="rect">
            <a:avLst/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30168" y="2688336"/>
            <a:ext cx="173736" cy="36576"/>
          </a:xfrm>
          <a:prstGeom prst="rect">
            <a:avLst/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30168" y="2761488"/>
            <a:ext cx="173736" cy="36576"/>
          </a:xfrm>
          <a:prstGeom prst="rect">
            <a:avLst/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97864" y="3008376"/>
            <a:ext cx="2807208" cy="292608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1400" b="1">
                <a:solidFill>
                  <a:srgbClr val="404040"/>
                </a:solidFill>
                <a:latin typeface="Calibri"/>
              </a:rPr>
              <a:t>O clube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97864" y="3374136"/>
            <a:ext cx="2807208" cy="914400"/>
          </a:xfrm>
          <a:prstGeom prst="rect">
            <a:avLst/>
          </a:prstGeom>
          <a:solidFill>
            <a:srgbClr val="E6E6E6"/>
          </a:solidFill>
          <a:ln w="9525">
            <a:solidFill>
              <a:srgbClr val="8C8C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>
            <a:off x="1197864" y="3374136"/>
            <a:ext cx="2807208" cy="914400"/>
          </a:xfrm>
          <a:prstGeom prst="line">
            <a:avLst/>
          </a:prstGeom>
          <a:ln w="9525">
            <a:solidFill>
              <a:srgbClr val="8C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1197864" y="3374136"/>
            <a:ext cx="2807208" cy="914400"/>
          </a:xfrm>
          <a:prstGeom prst="line">
            <a:avLst/>
          </a:prstGeom>
          <a:ln w="9525">
            <a:solidFill>
              <a:srgbClr val="8C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197864" y="3703320"/>
            <a:ext cx="2807208" cy="256032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/>
            <a:r>
              <a:rPr sz="1000" b="0">
                <a:solidFill>
                  <a:srgbClr val="404040"/>
                </a:solidFill>
                <a:latin typeface="Calibri"/>
              </a:rPr>
              <a:t>Equipa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97864" y="4379976"/>
            <a:ext cx="2526487" cy="73152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197864" y="4544568"/>
            <a:ext cx="2526487" cy="73152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97864" y="4709160"/>
            <a:ext cx="1684324" cy="73152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197864" y="4928616"/>
            <a:ext cx="2807208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8C8C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289304" y="4983479"/>
            <a:ext cx="2624328" cy="237744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1100" b="1">
                <a:solidFill>
                  <a:srgbClr val="404040"/>
                </a:solidFill>
                <a:latin typeface="Calibri"/>
              </a:rPr>
              <a:t>Treinador de velocidade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307592" y="5294376"/>
            <a:ext cx="2197303" cy="73152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307592" y="5458968"/>
            <a:ext cx="1464868" cy="73152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197864" y="5751576"/>
            <a:ext cx="2807208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8C8C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289304" y="5806440"/>
            <a:ext cx="2624328" cy="237744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1100" b="1">
                <a:solidFill>
                  <a:srgbClr val="404040"/>
                </a:solidFill>
                <a:latin typeface="Calibri"/>
              </a:rPr>
              <a:t>Treinadora de saltos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307592" y="6117336"/>
            <a:ext cx="2197303" cy="73152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307592" y="6281928"/>
            <a:ext cx="1464868" cy="73152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197864" y="6620256"/>
            <a:ext cx="2807208" cy="320040"/>
          </a:xfrm>
          <a:prstGeom prst="rect">
            <a:avLst/>
          </a:prstGeom>
          <a:solidFill>
            <a:srgbClr val="E6E6E6"/>
          </a:solidFill>
          <a:ln w="9525">
            <a:solidFill>
              <a:srgbClr val="8C8C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97864" y="6647688"/>
            <a:ext cx="2807208" cy="265176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/>
            <a:r>
              <a:rPr sz="1000" b="0">
                <a:solidFill>
                  <a:srgbClr val="404040"/>
                </a:solidFill>
                <a:latin typeface="Calibri"/>
              </a:rPr>
              <a:t>Contactos · Redes sociais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184648" y="2459736"/>
            <a:ext cx="9957816" cy="457200"/>
          </a:xfrm>
          <a:prstGeom prst="rect">
            <a:avLst/>
          </a:prstGeom>
          <a:solidFill>
            <a:srgbClr val="E6E6E6"/>
          </a:solidFill>
          <a:ln w="9525">
            <a:solidFill>
              <a:srgbClr val="8C8C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321808" y="2551176"/>
            <a:ext cx="640080" cy="27432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1200" b="1">
                <a:solidFill>
                  <a:srgbClr val="404040"/>
                </a:solidFill>
                <a:latin typeface="Calibri"/>
              </a:rPr>
              <a:t>CAV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099048" y="2551176"/>
            <a:ext cx="8860536" cy="27432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1100" b="0">
                <a:solidFill>
                  <a:srgbClr val="404040"/>
                </a:solidFill>
                <a:latin typeface="Calibri"/>
              </a:rPr>
              <a:t>Início · O clube · Treinos e horários · Resultados · Galeria · Inscrições e contactos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184648" y="3054096"/>
            <a:ext cx="9957816" cy="292608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1600" b="1">
                <a:solidFill>
                  <a:srgbClr val="404040"/>
                </a:solidFill>
                <a:latin typeface="Calibri"/>
              </a:rPr>
              <a:t>O clube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184648" y="3438144"/>
            <a:ext cx="3657600" cy="1463040"/>
          </a:xfrm>
          <a:prstGeom prst="rect">
            <a:avLst/>
          </a:prstGeom>
          <a:solidFill>
            <a:srgbClr val="E6E6E6"/>
          </a:solidFill>
          <a:ln w="9525">
            <a:solidFill>
              <a:srgbClr val="8C8C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0" name="Connector 39"/>
          <p:cNvCxnSpPr/>
          <p:nvPr/>
        </p:nvCxnSpPr>
        <p:spPr>
          <a:xfrm>
            <a:off x="5184648" y="3438144"/>
            <a:ext cx="3657600" cy="1463039"/>
          </a:xfrm>
          <a:prstGeom prst="line">
            <a:avLst/>
          </a:prstGeom>
          <a:ln w="9525">
            <a:solidFill>
              <a:srgbClr val="8C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5184648" y="3438144"/>
            <a:ext cx="3657600" cy="1463039"/>
          </a:xfrm>
          <a:prstGeom prst="line">
            <a:avLst/>
          </a:prstGeom>
          <a:ln w="9525">
            <a:solidFill>
              <a:srgbClr val="8C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5184648" y="4041648"/>
            <a:ext cx="3657600" cy="256032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/>
            <a:r>
              <a:rPr sz="1000" b="0">
                <a:solidFill>
                  <a:srgbClr val="404040"/>
                </a:solidFill>
                <a:latin typeface="Calibri"/>
              </a:rPr>
              <a:t>Equipa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025128" y="3438144"/>
            <a:ext cx="3657600" cy="27432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1200" b="1">
                <a:solidFill>
                  <a:srgbClr val="404040"/>
                </a:solidFill>
                <a:latin typeface="Calibri"/>
              </a:rPr>
              <a:t>História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025128" y="3803904"/>
            <a:ext cx="5423306" cy="73152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9025128" y="3968496"/>
            <a:ext cx="5423306" cy="73152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9025128" y="4133088"/>
            <a:ext cx="5423306" cy="73152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9025128" y="4297680"/>
            <a:ext cx="3615537" cy="73152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184648" y="5038344"/>
            <a:ext cx="4887468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8C8C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276088" y="5093207"/>
            <a:ext cx="4704588" cy="237744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1100" b="1">
                <a:solidFill>
                  <a:srgbClr val="404040"/>
                </a:solidFill>
                <a:latin typeface="Calibri"/>
              </a:rPr>
              <a:t>Treinador de velocidade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294376" y="5404104"/>
            <a:ext cx="4069537" cy="73152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5294376" y="5568696"/>
            <a:ext cx="2713024" cy="73152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0254996" y="5038344"/>
            <a:ext cx="4887468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8C8C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346436" y="5093207"/>
            <a:ext cx="4704588" cy="237744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1100" b="1">
                <a:solidFill>
                  <a:srgbClr val="404040"/>
                </a:solidFill>
                <a:latin typeface="Calibri"/>
              </a:rPr>
              <a:t>Treinadora de saltos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0364724" y="5404104"/>
            <a:ext cx="4069537" cy="73152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10364724" y="5568696"/>
            <a:ext cx="2713024" cy="73152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184648" y="6272783"/>
            <a:ext cx="9957816" cy="320040"/>
          </a:xfrm>
          <a:prstGeom prst="rect">
            <a:avLst/>
          </a:prstGeom>
          <a:solidFill>
            <a:srgbClr val="E6E6E6"/>
          </a:solidFill>
          <a:ln w="9525">
            <a:solidFill>
              <a:srgbClr val="8C8C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184648" y="6300216"/>
            <a:ext cx="9957816" cy="265176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/>
            <a:r>
              <a:rPr sz="1000" b="0">
                <a:solidFill>
                  <a:srgbClr val="404040"/>
                </a:solidFill>
                <a:latin typeface="Calibri"/>
              </a:rPr>
              <a:t>Contactos · Ligações · Redes sociais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gina3-text-1"/>
          <p:cNvSpPr/>
          <p:nvPr/>
        </p:nvSpPr>
        <p:spPr>
          <a:xfrm>
            <a:off x="1016000" y="571500"/>
            <a:ext cx="1143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3000" dirty="0">
                <a:solidFill>
                  <a:srgbClr val="22222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Página 3: Treinos e horários</a:t>
            </a:r>
            <a:endParaRPr lang="en-US" sz="3000" dirty="0"/>
          </a:p>
        </p:txBody>
      </p:sp>
      <p:sp>
        <p:nvSpPr>
          <p:cNvPr id="3" name="pagina3-text-2"/>
          <p:cNvSpPr/>
          <p:nvPr/>
        </p:nvSpPr>
        <p:spPr>
          <a:xfrm>
            <a:off x="1016000" y="1206500"/>
            <a:ext cx="7620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300" dirty="0">
                <a:solidFill>
                  <a:srgbClr val="5F66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Primeiro o telemóvel: uma coluna. Depois o computador: os mesmos blocos, pela mesma ordem.</a:t>
            </a:r>
            <a:endParaRPr lang="en-US" sz="1300" dirty="0"/>
          </a:p>
        </p:txBody>
      </p:sp>
      <p:sp>
        <p:nvSpPr>
          <p:cNvPr id="4" name="pagina3-text-3"/>
          <p:cNvSpPr/>
          <p:nvPr/>
        </p:nvSpPr>
        <p:spPr>
          <a:xfrm>
            <a:off x="1016000" y="1651000"/>
            <a:ext cx="3048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900" dirty="0">
                <a:solidFill>
                  <a:srgbClr val="22222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Telemóvel</a:t>
            </a:r>
            <a:endParaRPr lang="en-US" sz="1900" dirty="0"/>
          </a:p>
        </p:txBody>
      </p:sp>
      <p:sp>
        <p:nvSpPr>
          <p:cNvPr id="5" name="pagina3-shape-4"/>
          <p:cNvSpPr/>
          <p:nvPr/>
        </p:nvSpPr>
        <p:spPr>
          <a:xfrm>
            <a:off x="1016000" y="2095500"/>
            <a:ext cx="3175000" cy="5588000"/>
          </a:xfrm>
          <a:prstGeom prst="roundRect">
            <a:avLst>
              <a:gd name="adj" fmla="val 9600"/>
            </a:avLst>
          </a:prstGeom>
          <a:ln w="38100">
            <a:solidFill>
              <a:srgbClr val="404040"/>
            </a:solidFill>
            <a:prstDash val="solid"/>
          </a:ln>
        </p:spPr>
        <p:txBody>
          <a:bodyPr/>
          <a:p/>
        </p:txBody>
      </p:sp>
      <p:sp>
        <p:nvSpPr>
          <p:cNvPr id="6" name="pagina3-text-5"/>
          <p:cNvSpPr/>
          <p:nvPr/>
        </p:nvSpPr>
        <p:spPr>
          <a:xfrm>
            <a:off x="4953000" y="1651000"/>
            <a:ext cx="3810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900" dirty="0">
                <a:solidFill>
                  <a:srgbClr val="22222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Computador</a:t>
            </a:r>
            <a:endParaRPr lang="en-US" sz="1900" dirty="0"/>
          </a:p>
        </p:txBody>
      </p:sp>
      <p:sp>
        <p:nvSpPr>
          <p:cNvPr id="7" name="pagina3-shape-6"/>
          <p:cNvSpPr/>
          <p:nvPr/>
        </p:nvSpPr>
        <p:spPr>
          <a:xfrm>
            <a:off x="4953000" y="2095500"/>
            <a:ext cx="10414000" cy="5588000"/>
          </a:xfrm>
          <a:prstGeom prst="rect">
            <a:avLst/>
          </a:prstGeom>
          <a:ln w="38100">
            <a:solidFill>
              <a:srgbClr val="404040"/>
            </a:solidFill>
            <a:prstDash val="solid"/>
          </a:ln>
        </p:spPr>
        <p:txBody>
          <a:bodyPr/>
          <a:p/>
        </p:txBody>
      </p:sp>
      <p:sp>
        <p:nvSpPr>
          <p:cNvPr id="8" name="pagina3-shape-7"/>
          <p:cNvSpPr/>
          <p:nvPr/>
        </p:nvSpPr>
        <p:spPr>
          <a:xfrm>
            <a:off x="4953000" y="2095500"/>
            <a:ext cx="10414000" cy="228600"/>
          </a:xfrm>
          <a:prstGeom prst="rect">
            <a:avLst/>
          </a:prstGeom>
          <a:solidFill>
            <a:srgbClr val="F2F4F7"/>
          </a:solidFill>
          <a:ln/>
        </p:spPr>
        <p:txBody>
          <a:bodyPr/>
          <a:p/>
        </p:txBody>
      </p:sp>
      <p:sp>
        <p:nvSpPr>
          <p:cNvPr id="9" name="pagina3-text-8"/>
          <p:cNvSpPr/>
          <p:nvPr/>
        </p:nvSpPr>
        <p:spPr>
          <a:xfrm>
            <a:off x="1016000" y="8572500"/>
            <a:ext cx="12446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100" dirty="0">
                <a:solidFill>
                  <a:srgbClr val="5F66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Desenvolvimento Web e Móvel · UC02833 Conceber aplicações para a web na vertente frontend · Semana 2 · Aula 3 · Modelo</a:t>
            </a:r>
            <a:endParaRPr lang="en-US" sz="1100" dirty="0"/>
          </a:p>
        </p:txBody>
      </p:sp>
      <p:sp>
        <p:nvSpPr>
          <p:cNvPr id="10" name="pagina3-text-9"/>
          <p:cNvSpPr/>
          <p:nvPr/>
        </p:nvSpPr>
        <p:spPr>
          <a:xfrm>
            <a:off x="14986000" y="8572500"/>
            <a:ext cx="508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altLang="en-US" sz="1100" dirty="0">
                <a:solidFill>
                  <a:srgbClr val="5F66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7</a:t>
            </a:r>
            <a:endParaRPr lang="en-US" sz="1100" dirty="0"/>
          </a:p>
        </p:txBody>
      </p:sp>
      <p:sp>
        <p:nvSpPr>
          <p:cNvPr id="11" name="Rectangle 10"/>
          <p:cNvSpPr/>
          <p:nvPr/>
        </p:nvSpPr>
        <p:spPr>
          <a:xfrm>
            <a:off x="1197864" y="2459736"/>
            <a:ext cx="2807208" cy="457200"/>
          </a:xfrm>
          <a:prstGeom prst="rect">
            <a:avLst/>
          </a:prstGeom>
          <a:solidFill>
            <a:srgbClr val="E6E6E6"/>
          </a:solidFill>
          <a:ln w="9525">
            <a:solidFill>
              <a:srgbClr val="8C8C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89304" y="2551176"/>
            <a:ext cx="640080" cy="27432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1200" b="1">
                <a:solidFill>
                  <a:srgbClr val="404040"/>
                </a:solidFill>
                <a:latin typeface="Calibri"/>
              </a:rPr>
              <a:t>CAV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66160" y="2542032"/>
            <a:ext cx="301752" cy="301752"/>
          </a:xfrm>
          <a:prstGeom prst="rect">
            <a:avLst/>
          </a:prstGeom>
          <a:solidFill>
            <a:srgbClr val="FFFFFF"/>
          </a:solidFill>
          <a:ln w="9525">
            <a:solidFill>
              <a:srgbClr val="8C8C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30168" y="2615184"/>
            <a:ext cx="173736" cy="36576"/>
          </a:xfrm>
          <a:prstGeom prst="rect">
            <a:avLst/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30168" y="2688336"/>
            <a:ext cx="173736" cy="36576"/>
          </a:xfrm>
          <a:prstGeom prst="rect">
            <a:avLst/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30168" y="2761488"/>
            <a:ext cx="173736" cy="36576"/>
          </a:xfrm>
          <a:prstGeom prst="rect">
            <a:avLst/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97864" y="3008376"/>
            <a:ext cx="2807208" cy="292608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1400" b="1">
                <a:solidFill>
                  <a:srgbClr val="404040"/>
                </a:solidFill>
                <a:latin typeface="Calibri"/>
              </a:rPr>
              <a:t>Treinos e horários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97864" y="3374136"/>
            <a:ext cx="2807208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8C8C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97864" y="3374136"/>
            <a:ext cx="935736" cy="36576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/>
            <a:r>
              <a:rPr sz="1000" b="1">
                <a:solidFill>
                  <a:srgbClr val="404040"/>
                </a:solidFill>
                <a:latin typeface="Calibri"/>
              </a:rPr>
              <a:t>Escalão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33600" y="3374136"/>
            <a:ext cx="935736" cy="36576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/>
            <a:r>
              <a:rPr sz="1000" b="1">
                <a:solidFill>
                  <a:srgbClr val="404040"/>
                </a:solidFill>
                <a:latin typeface="Calibri"/>
              </a:rPr>
              <a:t>Horário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69336" y="3374136"/>
            <a:ext cx="935736" cy="36576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/>
            <a:r>
              <a:rPr sz="1000" b="1">
                <a:solidFill>
                  <a:srgbClr val="404040"/>
                </a:solidFill>
                <a:latin typeface="Calibri"/>
              </a:rPr>
              <a:t>Local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97864" y="3739896"/>
            <a:ext cx="2807208" cy="9144"/>
          </a:xfrm>
          <a:prstGeom prst="rect">
            <a:avLst/>
          </a:prstGeom>
          <a:solidFill>
            <a:srgbClr val="8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197864" y="4105656"/>
            <a:ext cx="2807208" cy="9144"/>
          </a:xfrm>
          <a:prstGeom prst="rect">
            <a:avLst/>
          </a:prstGeom>
          <a:solidFill>
            <a:srgbClr val="8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97864" y="4471416"/>
            <a:ext cx="2807208" cy="9144"/>
          </a:xfrm>
          <a:prstGeom prst="rect">
            <a:avLst/>
          </a:prstGeom>
          <a:solidFill>
            <a:srgbClr val="8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133600" y="3374136"/>
            <a:ext cx="9144" cy="1463040"/>
          </a:xfrm>
          <a:prstGeom prst="rect">
            <a:avLst/>
          </a:prstGeom>
          <a:solidFill>
            <a:srgbClr val="8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069336" y="3374136"/>
            <a:ext cx="9144" cy="1463040"/>
          </a:xfrm>
          <a:prstGeom prst="rect">
            <a:avLst/>
          </a:prstGeom>
          <a:solidFill>
            <a:srgbClr val="8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197864" y="4928616"/>
            <a:ext cx="2807208" cy="1005840"/>
          </a:xfrm>
          <a:prstGeom prst="rect">
            <a:avLst/>
          </a:prstGeom>
          <a:solidFill>
            <a:srgbClr val="E6E6E6"/>
          </a:solidFill>
          <a:ln w="9525">
            <a:solidFill>
              <a:srgbClr val="8C8C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8" name="Connector 27"/>
          <p:cNvCxnSpPr/>
          <p:nvPr/>
        </p:nvCxnSpPr>
        <p:spPr>
          <a:xfrm>
            <a:off x="1197864" y="4928616"/>
            <a:ext cx="2807208" cy="1005840"/>
          </a:xfrm>
          <a:prstGeom prst="line">
            <a:avLst/>
          </a:prstGeom>
          <a:ln w="9525">
            <a:solidFill>
              <a:srgbClr val="8C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1197864" y="4928616"/>
            <a:ext cx="2807208" cy="1005840"/>
          </a:xfrm>
          <a:prstGeom prst="line">
            <a:avLst/>
          </a:prstGeom>
          <a:ln w="9525">
            <a:solidFill>
              <a:srgbClr val="8C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1197864" y="5303520"/>
            <a:ext cx="2807208" cy="256032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/>
            <a:r>
              <a:rPr sz="1000" b="0">
                <a:solidFill>
                  <a:srgbClr val="404040"/>
                </a:solidFill>
                <a:latin typeface="Calibri"/>
              </a:rPr>
              <a:t>Mapa da pista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197864" y="6025896"/>
            <a:ext cx="2807208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97864" y="6025896"/>
            <a:ext cx="2807208" cy="27432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/>
            <a:r>
              <a:rPr sz="1000" b="1">
                <a:solidFill>
                  <a:srgbClr val="404040"/>
                </a:solidFill>
                <a:latin typeface="Calibri"/>
              </a:rPr>
              <a:t>Inscreve-te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97864" y="6437376"/>
            <a:ext cx="2807208" cy="320040"/>
          </a:xfrm>
          <a:prstGeom prst="rect">
            <a:avLst/>
          </a:prstGeom>
          <a:solidFill>
            <a:srgbClr val="E6E6E6"/>
          </a:solidFill>
          <a:ln w="9525">
            <a:solidFill>
              <a:srgbClr val="8C8C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97864" y="6464808"/>
            <a:ext cx="2807208" cy="265176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/>
            <a:r>
              <a:rPr sz="1000" b="0">
                <a:solidFill>
                  <a:srgbClr val="404040"/>
                </a:solidFill>
                <a:latin typeface="Calibri"/>
              </a:rPr>
              <a:t>Contactos · Redes sociais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184648" y="2459736"/>
            <a:ext cx="9957816" cy="457200"/>
          </a:xfrm>
          <a:prstGeom prst="rect">
            <a:avLst/>
          </a:prstGeom>
          <a:solidFill>
            <a:srgbClr val="E6E6E6"/>
          </a:solidFill>
          <a:ln w="9525">
            <a:solidFill>
              <a:srgbClr val="8C8C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321808" y="2551176"/>
            <a:ext cx="640080" cy="27432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1200" b="1">
                <a:solidFill>
                  <a:srgbClr val="404040"/>
                </a:solidFill>
                <a:latin typeface="Calibri"/>
              </a:rPr>
              <a:t>CAV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099048" y="2551176"/>
            <a:ext cx="8860536" cy="27432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1100" b="0">
                <a:solidFill>
                  <a:srgbClr val="404040"/>
                </a:solidFill>
                <a:latin typeface="Calibri"/>
              </a:rPr>
              <a:t>Início · O clube · Treinos e horários · Resultados · Galeria · Inscrições e contactos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184648" y="3054096"/>
            <a:ext cx="9957816" cy="292608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1600" b="1">
                <a:solidFill>
                  <a:srgbClr val="404040"/>
                </a:solidFill>
                <a:latin typeface="Calibri"/>
              </a:rPr>
              <a:t>Treinos e horários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184648" y="3438144"/>
            <a:ext cx="9957816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8C8C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184648" y="3438144"/>
            <a:ext cx="3319272" cy="36576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/>
            <a:r>
              <a:rPr sz="1000" b="1">
                <a:solidFill>
                  <a:srgbClr val="404040"/>
                </a:solidFill>
                <a:latin typeface="Calibri"/>
              </a:rPr>
              <a:t>Escalão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03920" y="3438144"/>
            <a:ext cx="3319272" cy="36576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/>
            <a:r>
              <a:rPr sz="1000" b="1">
                <a:solidFill>
                  <a:srgbClr val="404040"/>
                </a:solidFill>
                <a:latin typeface="Calibri"/>
              </a:rPr>
              <a:t>Horário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823192" y="3438144"/>
            <a:ext cx="3319272" cy="36576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/>
            <a:r>
              <a:rPr sz="1000" b="1">
                <a:solidFill>
                  <a:srgbClr val="404040"/>
                </a:solidFill>
                <a:latin typeface="Calibri"/>
              </a:rPr>
              <a:t>Local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184648" y="3803904"/>
            <a:ext cx="9957816" cy="9144"/>
          </a:xfrm>
          <a:prstGeom prst="rect">
            <a:avLst/>
          </a:prstGeom>
          <a:solidFill>
            <a:srgbClr val="8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184648" y="4169663"/>
            <a:ext cx="9957816" cy="9144"/>
          </a:xfrm>
          <a:prstGeom prst="rect">
            <a:avLst/>
          </a:prstGeom>
          <a:solidFill>
            <a:srgbClr val="8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184648" y="4535424"/>
            <a:ext cx="9957816" cy="9144"/>
          </a:xfrm>
          <a:prstGeom prst="rect">
            <a:avLst/>
          </a:prstGeom>
          <a:solidFill>
            <a:srgbClr val="8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503920" y="3438144"/>
            <a:ext cx="9144" cy="1463040"/>
          </a:xfrm>
          <a:prstGeom prst="rect">
            <a:avLst/>
          </a:prstGeom>
          <a:solidFill>
            <a:srgbClr val="8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11823192" y="3438144"/>
            <a:ext cx="9144" cy="1463040"/>
          </a:xfrm>
          <a:prstGeom prst="rect">
            <a:avLst/>
          </a:prstGeom>
          <a:solidFill>
            <a:srgbClr val="8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184648" y="5038344"/>
            <a:ext cx="3657600" cy="27432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1200" b="1">
                <a:solidFill>
                  <a:srgbClr val="404040"/>
                </a:solidFill>
                <a:latin typeface="Calibri"/>
              </a:rPr>
              <a:t>Onde treinamos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184648" y="5358383"/>
            <a:ext cx="4114800" cy="1005840"/>
          </a:xfrm>
          <a:prstGeom prst="rect">
            <a:avLst/>
          </a:prstGeom>
          <a:solidFill>
            <a:srgbClr val="E6E6E6"/>
          </a:solidFill>
          <a:ln w="9525">
            <a:solidFill>
              <a:srgbClr val="8C8C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0" name="Connector 49"/>
          <p:cNvCxnSpPr/>
          <p:nvPr/>
        </p:nvCxnSpPr>
        <p:spPr>
          <a:xfrm>
            <a:off x="5184648" y="5358383"/>
            <a:ext cx="4114800" cy="1005840"/>
          </a:xfrm>
          <a:prstGeom prst="line">
            <a:avLst/>
          </a:prstGeom>
          <a:ln w="9525">
            <a:solidFill>
              <a:srgbClr val="8C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5184648" y="5358383"/>
            <a:ext cx="4114800" cy="1005840"/>
          </a:xfrm>
          <a:prstGeom prst="line">
            <a:avLst/>
          </a:prstGeom>
          <a:ln w="9525">
            <a:solidFill>
              <a:srgbClr val="8C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5184648" y="5733288"/>
            <a:ext cx="4114800" cy="256032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/>
            <a:r>
              <a:rPr sz="1000" b="0">
                <a:solidFill>
                  <a:srgbClr val="404040"/>
                </a:solidFill>
                <a:latin typeface="Calibri"/>
              </a:rPr>
              <a:t>Mapa da pista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3313664" y="5724144"/>
            <a:ext cx="182880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3313664" y="5724144"/>
            <a:ext cx="1828800" cy="27432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/>
            <a:r>
              <a:rPr sz="1000" b="1">
                <a:solidFill>
                  <a:srgbClr val="404040"/>
                </a:solidFill>
                <a:latin typeface="Calibri"/>
              </a:rPr>
              <a:t>Inscreve-te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184648" y="6501383"/>
            <a:ext cx="9957816" cy="320040"/>
          </a:xfrm>
          <a:prstGeom prst="rect">
            <a:avLst/>
          </a:prstGeom>
          <a:solidFill>
            <a:srgbClr val="E6E6E6"/>
          </a:solidFill>
          <a:ln w="9525">
            <a:solidFill>
              <a:srgbClr val="8C8C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184648" y="6528816"/>
            <a:ext cx="9957816" cy="265176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/>
            <a:r>
              <a:rPr sz="1000" b="0">
                <a:solidFill>
                  <a:srgbClr val="404040"/>
                </a:solidFill>
                <a:latin typeface="Calibri"/>
              </a:rPr>
              <a:t>Contactos · Ligações · Redes sociais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gina4-text-1"/>
          <p:cNvSpPr/>
          <p:nvPr/>
        </p:nvSpPr>
        <p:spPr>
          <a:xfrm>
            <a:off x="1016000" y="571500"/>
            <a:ext cx="1143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3000" dirty="0">
                <a:solidFill>
                  <a:srgbClr val="22222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Página 4: Resultados</a:t>
            </a:r>
            <a:endParaRPr lang="en-US" sz="3000" dirty="0"/>
          </a:p>
        </p:txBody>
      </p:sp>
      <p:sp>
        <p:nvSpPr>
          <p:cNvPr id="3" name="pagina4-text-2"/>
          <p:cNvSpPr/>
          <p:nvPr/>
        </p:nvSpPr>
        <p:spPr>
          <a:xfrm>
            <a:off x="1016000" y="1206500"/>
            <a:ext cx="7620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300" dirty="0">
                <a:solidFill>
                  <a:srgbClr val="5F66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Primeiro o telemóvel: uma coluna. Depois o computador: os mesmos blocos, pela mesma ordem.</a:t>
            </a:r>
            <a:endParaRPr lang="en-US" sz="1300" dirty="0"/>
          </a:p>
        </p:txBody>
      </p:sp>
      <p:sp>
        <p:nvSpPr>
          <p:cNvPr id="4" name="pagina4-text-3"/>
          <p:cNvSpPr/>
          <p:nvPr/>
        </p:nvSpPr>
        <p:spPr>
          <a:xfrm>
            <a:off x="1016000" y="1651000"/>
            <a:ext cx="3048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900" dirty="0">
                <a:solidFill>
                  <a:srgbClr val="22222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Telemóvel</a:t>
            </a:r>
            <a:endParaRPr lang="en-US" sz="1900" dirty="0"/>
          </a:p>
        </p:txBody>
      </p:sp>
      <p:sp>
        <p:nvSpPr>
          <p:cNvPr id="5" name="pagina4-shape-4"/>
          <p:cNvSpPr/>
          <p:nvPr/>
        </p:nvSpPr>
        <p:spPr>
          <a:xfrm>
            <a:off x="1016000" y="2095500"/>
            <a:ext cx="3175000" cy="5588000"/>
          </a:xfrm>
          <a:prstGeom prst="roundRect">
            <a:avLst>
              <a:gd name="adj" fmla="val 9600"/>
            </a:avLst>
          </a:prstGeom>
          <a:ln w="38100">
            <a:solidFill>
              <a:srgbClr val="404040"/>
            </a:solidFill>
            <a:prstDash val="solid"/>
          </a:ln>
        </p:spPr>
        <p:txBody>
          <a:bodyPr/>
          <a:p/>
        </p:txBody>
      </p:sp>
      <p:sp>
        <p:nvSpPr>
          <p:cNvPr id="6" name="pagina4-text-5"/>
          <p:cNvSpPr/>
          <p:nvPr/>
        </p:nvSpPr>
        <p:spPr>
          <a:xfrm>
            <a:off x="4953000" y="1651000"/>
            <a:ext cx="3810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900" dirty="0">
                <a:solidFill>
                  <a:srgbClr val="22222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Computador</a:t>
            </a:r>
            <a:endParaRPr lang="en-US" sz="1900" dirty="0"/>
          </a:p>
        </p:txBody>
      </p:sp>
      <p:sp>
        <p:nvSpPr>
          <p:cNvPr id="7" name="pagina4-shape-6"/>
          <p:cNvSpPr/>
          <p:nvPr/>
        </p:nvSpPr>
        <p:spPr>
          <a:xfrm>
            <a:off x="4953000" y="2095500"/>
            <a:ext cx="10414000" cy="5588000"/>
          </a:xfrm>
          <a:prstGeom prst="rect">
            <a:avLst/>
          </a:prstGeom>
          <a:ln w="38100">
            <a:solidFill>
              <a:srgbClr val="404040"/>
            </a:solidFill>
            <a:prstDash val="solid"/>
          </a:ln>
        </p:spPr>
        <p:txBody>
          <a:bodyPr/>
          <a:p/>
        </p:txBody>
      </p:sp>
      <p:sp>
        <p:nvSpPr>
          <p:cNvPr id="8" name="pagina4-shape-7"/>
          <p:cNvSpPr/>
          <p:nvPr/>
        </p:nvSpPr>
        <p:spPr>
          <a:xfrm>
            <a:off x="4953000" y="2095500"/>
            <a:ext cx="10414000" cy="228600"/>
          </a:xfrm>
          <a:prstGeom prst="rect">
            <a:avLst/>
          </a:prstGeom>
          <a:solidFill>
            <a:srgbClr val="F2F4F7"/>
          </a:solidFill>
          <a:ln/>
        </p:spPr>
        <p:txBody>
          <a:bodyPr/>
          <a:p/>
        </p:txBody>
      </p:sp>
      <p:sp>
        <p:nvSpPr>
          <p:cNvPr id="9" name="pagina4-text-8"/>
          <p:cNvSpPr/>
          <p:nvPr/>
        </p:nvSpPr>
        <p:spPr>
          <a:xfrm>
            <a:off x="1016000" y="8572500"/>
            <a:ext cx="12446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100" dirty="0">
                <a:solidFill>
                  <a:srgbClr val="5F66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Desenvolvimento Web e Móvel · UC02833 Conceber aplicações para a web na vertente frontend · Semana 2 · Aula 3 · Modelo</a:t>
            </a:r>
            <a:endParaRPr lang="en-US" sz="1100" dirty="0"/>
          </a:p>
        </p:txBody>
      </p:sp>
      <p:sp>
        <p:nvSpPr>
          <p:cNvPr id="10" name="pagina4-text-9"/>
          <p:cNvSpPr/>
          <p:nvPr/>
        </p:nvSpPr>
        <p:spPr>
          <a:xfrm>
            <a:off x="14986000" y="8572500"/>
            <a:ext cx="508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altLang="en-US" sz="1100" dirty="0">
                <a:solidFill>
                  <a:srgbClr val="5F66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8</a:t>
            </a:r>
            <a:endParaRPr lang="en-US" sz="1100" dirty="0"/>
          </a:p>
        </p:txBody>
      </p:sp>
      <p:sp>
        <p:nvSpPr>
          <p:cNvPr id="11" name="Rectangle 10"/>
          <p:cNvSpPr/>
          <p:nvPr/>
        </p:nvSpPr>
        <p:spPr>
          <a:xfrm>
            <a:off x="1197864" y="2459736"/>
            <a:ext cx="2807208" cy="457200"/>
          </a:xfrm>
          <a:prstGeom prst="rect">
            <a:avLst/>
          </a:prstGeom>
          <a:solidFill>
            <a:srgbClr val="E6E6E6"/>
          </a:solidFill>
          <a:ln w="9525">
            <a:solidFill>
              <a:srgbClr val="8C8C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89304" y="2551176"/>
            <a:ext cx="640080" cy="27432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1200" b="1">
                <a:solidFill>
                  <a:srgbClr val="404040"/>
                </a:solidFill>
                <a:latin typeface="Calibri"/>
              </a:rPr>
              <a:t>CAV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66160" y="2542032"/>
            <a:ext cx="301752" cy="301752"/>
          </a:xfrm>
          <a:prstGeom prst="rect">
            <a:avLst/>
          </a:prstGeom>
          <a:solidFill>
            <a:srgbClr val="FFFFFF"/>
          </a:solidFill>
          <a:ln w="9525">
            <a:solidFill>
              <a:srgbClr val="8C8C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30168" y="2615184"/>
            <a:ext cx="173736" cy="36576"/>
          </a:xfrm>
          <a:prstGeom prst="rect">
            <a:avLst/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30168" y="2688336"/>
            <a:ext cx="173736" cy="36576"/>
          </a:xfrm>
          <a:prstGeom prst="rect">
            <a:avLst/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30168" y="2761488"/>
            <a:ext cx="173736" cy="36576"/>
          </a:xfrm>
          <a:prstGeom prst="rect">
            <a:avLst/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97864" y="3008376"/>
            <a:ext cx="2807208" cy="292608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1400" b="1">
                <a:solidFill>
                  <a:srgbClr val="404040"/>
                </a:solidFill>
                <a:latin typeface="Calibri"/>
              </a:rPr>
              <a:t>Resultados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97864" y="3374136"/>
            <a:ext cx="2807208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8C8C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89304" y="3429000"/>
            <a:ext cx="2624328" cy="237744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1100" b="1">
                <a:solidFill>
                  <a:srgbClr val="404040"/>
                </a:solidFill>
                <a:latin typeface="Calibri"/>
              </a:rPr>
              <a:t>Corta-mato da vila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307592" y="3739896"/>
            <a:ext cx="2197303" cy="73152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307592" y="3904487"/>
            <a:ext cx="1464868" cy="73152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197864" y="4242816"/>
            <a:ext cx="2807208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8C8C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289304" y="4297679"/>
            <a:ext cx="2624328" cy="237744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1100" b="1">
                <a:solidFill>
                  <a:srgbClr val="404040"/>
                </a:solidFill>
                <a:latin typeface="Calibri"/>
              </a:rPr>
              <a:t>Torneio de velocidade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307592" y="4608576"/>
            <a:ext cx="2197303" cy="73152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307592" y="4773168"/>
            <a:ext cx="1464868" cy="73152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197864" y="5111496"/>
            <a:ext cx="2807208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8C8C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89304" y="5166359"/>
            <a:ext cx="2624328" cy="237744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1100" b="1">
                <a:solidFill>
                  <a:srgbClr val="404040"/>
                </a:solidFill>
                <a:latin typeface="Calibri"/>
              </a:rPr>
              <a:t>Meeting jovem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307592" y="5477256"/>
            <a:ext cx="2197303" cy="73152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307592" y="5641848"/>
            <a:ext cx="1464868" cy="73152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197864" y="5980176"/>
            <a:ext cx="2807208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97864" y="5980176"/>
            <a:ext cx="2807208" cy="27432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/>
            <a:r>
              <a:rPr sz="1000" b="1">
                <a:solidFill>
                  <a:srgbClr val="404040"/>
                </a:solidFill>
                <a:latin typeface="Calibri"/>
              </a:rPr>
              <a:t>Ver provas anteriores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197864" y="6391656"/>
            <a:ext cx="2807208" cy="320040"/>
          </a:xfrm>
          <a:prstGeom prst="rect">
            <a:avLst/>
          </a:prstGeom>
          <a:solidFill>
            <a:srgbClr val="E6E6E6"/>
          </a:solidFill>
          <a:ln w="9525">
            <a:solidFill>
              <a:srgbClr val="8C8C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97864" y="6419088"/>
            <a:ext cx="2807208" cy="265176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/>
            <a:r>
              <a:rPr sz="1000" b="0">
                <a:solidFill>
                  <a:srgbClr val="404040"/>
                </a:solidFill>
                <a:latin typeface="Calibri"/>
              </a:rPr>
              <a:t>Contactos · Redes sociais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184648" y="2459736"/>
            <a:ext cx="9957816" cy="457200"/>
          </a:xfrm>
          <a:prstGeom prst="rect">
            <a:avLst/>
          </a:prstGeom>
          <a:solidFill>
            <a:srgbClr val="E6E6E6"/>
          </a:solidFill>
          <a:ln w="9525">
            <a:solidFill>
              <a:srgbClr val="8C8C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321808" y="2551176"/>
            <a:ext cx="640080" cy="27432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1200" b="1">
                <a:solidFill>
                  <a:srgbClr val="404040"/>
                </a:solidFill>
                <a:latin typeface="Calibri"/>
              </a:rPr>
              <a:t>CAV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099048" y="2551176"/>
            <a:ext cx="8860536" cy="27432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1100" b="0">
                <a:solidFill>
                  <a:srgbClr val="404040"/>
                </a:solidFill>
                <a:latin typeface="Calibri"/>
              </a:rPr>
              <a:t>Início · O clube · Treinos e horários · Resultados · Galeria · Inscrições e contactos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84648" y="3054096"/>
            <a:ext cx="9957816" cy="292608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1600" b="1">
                <a:solidFill>
                  <a:srgbClr val="404040"/>
                </a:solidFill>
                <a:latin typeface="Calibri"/>
              </a:rPr>
              <a:t>Resultados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184648" y="3438144"/>
            <a:ext cx="3197352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8C8C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276088" y="3493008"/>
            <a:ext cx="3014472" cy="237744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1100" b="1">
                <a:solidFill>
                  <a:srgbClr val="404040"/>
                </a:solidFill>
                <a:latin typeface="Calibri"/>
              </a:rPr>
              <a:t>Corta-mato da vila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294376" y="3803904"/>
            <a:ext cx="2548432" cy="73152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294376" y="3968496"/>
            <a:ext cx="1698955" cy="73152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564880" y="3438144"/>
            <a:ext cx="3197352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8C8C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656320" y="3493008"/>
            <a:ext cx="3014472" cy="237744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1100" b="1">
                <a:solidFill>
                  <a:srgbClr val="404040"/>
                </a:solidFill>
                <a:latin typeface="Calibri"/>
              </a:rPr>
              <a:t>Torneio de velocidade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674608" y="3803904"/>
            <a:ext cx="2548432" cy="73152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8674608" y="3968496"/>
            <a:ext cx="1698955" cy="73152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1945112" y="3438144"/>
            <a:ext cx="3197352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8C8C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2036551" y="3493008"/>
            <a:ext cx="3014472" cy="237744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1100" b="1">
                <a:solidFill>
                  <a:srgbClr val="404040"/>
                </a:solidFill>
                <a:latin typeface="Calibri"/>
              </a:rPr>
              <a:t>Meeting jovem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2054839" y="3803904"/>
            <a:ext cx="2548432" cy="73152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12054839" y="3968496"/>
            <a:ext cx="1698955" cy="73152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5184648" y="4855464"/>
            <a:ext cx="219456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184648" y="4855464"/>
            <a:ext cx="2194560" cy="27432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/>
            <a:r>
              <a:rPr sz="1000" b="1">
                <a:solidFill>
                  <a:srgbClr val="404040"/>
                </a:solidFill>
                <a:latin typeface="Calibri"/>
              </a:rPr>
              <a:t>Ver provas anteriores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184648" y="5312664"/>
            <a:ext cx="9957816" cy="320040"/>
          </a:xfrm>
          <a:prstGeom prst="rect">
            <a:avLst/>
          </a:prstGeom>
          <a:solidFill>
            <a:srgbClr val="E6E6E6"/>
          </a:solidFill>
          <a:ln w="9525">
            <a:solidFill>
              <a:srgbClr val="8C8C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184648" y="5340096"/>
            <a:ext cx="9957816" cy="265176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/>
            <a:r>
              <a:rPr sz="1000" b="0">
                <a:solidFill>
                  <a:srgbClr val="404040"/>
                </a:solidFill>
                <a:latin typeface="Calibri"/>
              </a:rPr>
              <a:t>Contactos · Ligações · Redes sociais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gina5-text-1"/>
          <p:cNvSpPr/>
          <p:nvPr/>
        </p:nvSpPr>
        <p:spPr>
          <a:xfrm>
            <a:off x="1016000" y="571500"/>
            <a:ext cx="1143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3000" dirty="0">
                <a:solidFill>
                  <a:srgbClr val="22222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Página 5: Galeria</a:t>
            </a:r>
            <a:endParaRPr lang="en-US" sz="3000" dirty="0"/>
          </a:p>
        </p:txBody>
      </p:sp>
      <p:sp>
        <p:nvSpPr>
          <p:cNvPr id="3" name="pagina5-text-2"/>
          <p:cNvSpPr/>
          <p:nvPr/>
        </p:nvSpPr>
        <p:spPr>
          <a:xfrm>
            <a:off x="1016000" y="1206500"/>
            <a:ext cx="7620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300" dirty="0">
                <a:solidFill>
                  <a:srgbClr val="5F66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Primeiro o telemóvel: uma coluna. Depois o computador: os mesmos blocos, pela mesma ordem.</a:t>
            </a:r>
            <a:endParaRPr lang="en-US" sz="1300" dirty="0"/>
          </a:p>
        </p:txBody>
      </p:sp>
      <p:sp>
        <p:nvSpPr>
          <p:cNvPr id="4" name="pagina5-text-3"/>
          <p:cNvSpPr/>
          <p:nvPr/>
        </p:nvSpPr>
        <p:spPr>
          <a:xfrm>
            <a:off x="1016000" y="1651000"/>
            <a:ext cx="3048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900" dirty="0">
                <a:solidFill>
                  <a:srgbClr val="22222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Telemóvel</a:t>
            </a:r>
            <a:endParaRPr lang="en-US" sz="1900" dirty="0"/>
          </a:p>
        </p:txBody>
      </p:sp>
      <p:sp>
        <p:nvSpPr>
          <p:cNvPr id="5" name="pagina5-shape-4"/>
          <p:cNvSpPr/>
          <p:nvPr/>
        </p:nvSpPr>
        <p:spPr>
          <a:xfrm>
            <a:off x="1016000" y="2095500"/>
            <a:ext cx="3175000" cy="5588000"/>
          </a:xfrm>
          <a:prstGeom prst="roundRect">
            <a:avLst>
              <a:gd name="adj" fmla="val 9600"/>
            </a:avLst>
          </a:prstGeom>
          <a:ln w="38100">
            <a:solidFill>
              <a:srgbClr val="404040"/>
            </a:solidFill>
            <a:prstDash val="solid"/>
          </a:ln>
        </p:spPr>
        <p:txBody>
          <a:bodyPr/>
          <a:p/>
        </p:txBody>
      </p:sp>
      <p:sp>
        <p:nvSpPr>
          <p:cNvPr id="6" name="pagina5-text-5"/>
          <p:cNvSpPr/>
          <p:nvPr/>
        </p:nvSpPr>
        <p:spPr>
          <a:xfrm>
            <a:off x="4953000" y="1651000"/>
            <a:ext cx="3810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900" dirty="0">
                <a:solidFill>
                  <a:srgbClr val="22222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Computador</a:t>
            </a:r>
            <a:endParaRPr lang="en-US" sz="1900" dirty="0"/>
          </a:p>
        </p:txBody>
      </p:sp>
      <p:sp>
        <p:nvSpPr>
          <p:cNvPr id="7" name="pagina5-shape-6"/>
          <p:cNvSpPr/>
          <p:nvPr/>
        </p:nvSpPr>
        <p:spPr>
          <a:xfrm>
            <a:off x="4953000" y="2095500"/>
            <a:ext cx="10414000" cy="5588000"/>
          </a:xfrm>
          <a:prstGeom prst="rect">
            <a:avLst/>
          </a:prstGeom>
          <a:ln w="38100">
            <a:solidFill>
              <a:srgbClr val="404040"/>
            </a:solidFill>
            <a:prstDash val="solid"/>
          </a:ln>
        </p:spPr>
        <p:txBody>
          <a:bodyPr/>
          <a:p/>
        </p:txBody>
      </p:sp>
      <p:sp>
        <p:nvSpPr>
          <p:cNvPr id="8" name="pagina5-shape-7"/>
          <p:cNvSpPr/>
          <p:nvPr/>
        </p:nvSpPr>
        <p:spPr>
          <a:xfrm>
            <a:off x="4953000" y="2095500"/>
            <a:ext cx="10414000" cy="228600"/>
          </a:xfrm>
          <a:prstGeom prst="rect">
            <a:avLst/>
          </a:prstGeom>
          <a:solidFill>
            <a:srgbClr val="F2F4F7"/>
          </a:solidFill>
          <a:ln/>
        </p:spPr>
        <p:txBody>
          <a:bodyPr/>
          <a:p/>
        </p:txBody>
      </p:sp>
      <p:sp>
        <p:nvSpPr>
          <p:cNvPr id="9" name="pagina5-text-8"/>
          <p:cNvSpPr/>
          <p:nvPr/>
        </p:nvSpPr>
        <p:spPr>
          <a:xfrm>
            <a:off x="1016000" y="8572500"/>
            <a:ext cx="12446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100" dirty="0">
                <a:solidFill>
                  <a:srgbClr val="5F66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Desenvolvimento Web e Móvel · UC02833 Conceber aplicações para a web na vertente frontend · Semana 2 · Aula 3 · Modelo</a:t>
            </a:r>
            <a:endParaRPr lang="en-US" sz="1100" dirty="0"/>
          </a:p>
        </p:txBody>
      </p:sp>
      <p:sp>
        <p:nvSpPr>
          <p:cNvPr id="10" name="pagina5-text-9"/>
          <p:cNvSpPr/>
          <p:nvPr/>
        </p:nvSpPr>
        <p:spPr>
          <a:xfrm>
            <a:off x="14986000" y="8572500"/>
            <a:ext cx="508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altLang="en-US" sz="1100" dirty="0">
                <a:solidFill>
                  <a:srgbClr val="5F66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9</a:t>
            </a:r>
            <a:endParaRPr lang="en-US" sz="1100" dirty="0"/>
          </a:p>
        </p:txBody>
      </p:sp>
      <p:sp>
        <p:nvSpPr>
          <p:cNvPr id="11" name="Rectangle 10"/>
          <p:cNvSpPr/>
          <p:nvPr/>
        </p:nvSpPr>
        <p:spPr>
          <a:xfrm>
            <a:off x="1197864" y="2459736"/>
            <a:ext cx="2807208" cy="457200"/>
          </a:xfrm>
          <a:prstGeom prst="rect">
            <a:avLst/>
          </a:prstGeom>
          <a:solidFill>
            <a:srgbClr val="E6E6E6"/>
          </a:solidFill>
          <a:ln w="9525">
            <a:solidFill>
              <a:srgbClr val="8C8C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89304" y="2551176"/>
            <a:ext cx="640080" cy="27432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1200" b="1">
                <a:solidFill>
                  <a:srgbClr val="404040"/>
                </a:solidFill>
                <a:latin typeface="Calibri"/>
              </a:rPr>
              <a:t>CAV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66160" y="2542032"/>
            <a:ext cx="301752" cy="301752"/>
          </a:xfrm>
          <a:prstGeom prst="rect">
            <a:avLst/>
          </a:prstGeom>
          <a:solidFill>
            <a:srgbClr val="FFFFFF"/>
          </a:solidFill>
          <a:ln w="9525">
            <a:solidFill>
              <a:srgbClr val="8C8C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30168" y="2615184"/>
            <a:ext cx="173736" cy="36576"/>
          </a:xfrm>
          <a:prstGeom prst="rect">
            <a:avLst/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30168" y="2688336"/>
            <a:ext cx="173736" cy="36576"/>
          </a:xfrm>
          <a:prstGeom prst="rect">
            <a:avLst/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30168" y="2761488"/>
            <a:ext cx="173736" cy="36576"/>
          </a:xfrm>
          <a:prstGeom prst="rect">
            <a:avLst/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97864" y="3008376"/>
            <a:ext cx="2807208" cy="292608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1400" b="1">
                <a:solidFill>
                  <a:srgbClr val="404040"/>
                </a:solidFill>
                <a:latin typeface="Calibri"/>
              </a:rPr>
              <a:t>Galeria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97864" y="3374136"/>
            <a:ext cx="2807208" cy="914400"/>
          </a:xfrm>
          <a:prstGeom prst="rect">
            <a:avLst/>
          </a:prstGeom>
          <a:solidFill>
            <a:srgbClr val="E6E6E6"/>
          </a:solidFill>
          <a:ln w="9525">
            <a:solidFill>
              <a:srgbClr val="8C8C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>
            <a:off x="1197864" y="3374136"/>
            <a:ext cx="2807208" cy="914400"/>
          </a:xfrm>
          <a:prstGeom prst="line">
            <a:avLst/>
          </a:prstGeom>
          <a:ln w="9525">
            <a:solidFill>
              <a:srgbClr val="8C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1197864" y="3374136"/>
            <a:ext cx="2807208" cy="914400"/>
          </a:xfrm>
          <a:prstGeom prst="line">
            <a:avLst/>
          </a:prstGeom>
          <a:ln w="9525">
            <a:solidFill>
              <a:srgbClr val="8C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197864" y="3703320"/>
            <a:ext cx="2807208" cy="256032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/>
            <a:r>
              <a:rPr sz="1000" b="0">
                <a:solidFill>
                  <a:srgbClr val="404040"/>
                </a:solidFill>
                <a:latin typeface="Calibri"/>
              </a:rPr>
              <a:t>Fotografia 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97864" y="4379976"/>
            <a:ext cx="2807208" cy="914400"/>
          </a:xfrm>
          <a:prstGeom prst="rect">
            <a:avLst/>
          </a:prstGeom>
          <a:solidFill>
            <a:srgbClr val="E6E6E6"/>
          </a:solidFill>
          <a:ln w="9525">
            <a:solidFill>
              <a:srgbClr val="8C8C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1197864" y="4379976"/>
            <a:ext cx="2807208" cy="914400"/>
          </a:xfrm>
          <a:prstGeom prst="line">
            <a:avLst/>
          </a:prstGeom>
          <a:ln w="9525">
            <a:solidFill>
              <a:srgbClr val="8C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1197864" y="4379976"/>
            <a:ext cx="2807208" cy="914400"/>
          </a:xfrm>
          <a:prstGeom prst="line">
            <a:avLst/>
          </a:prstGeom>
          <a:ln w="9525">
            <a:solidFill>
              <a:srgbClr val="8C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1197864" y="4709160"/>
            <a:ext cx="2807208" cy="256032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/>
            <a:r>
              <a:rPr sz="1000" b="0">
                <a:solidFill>
                  <a:srgbClr val="404040"/>
                </a:solidFill>
                <a:latin typeface="Calibri"/>
              </a:rPr>
              <a:t>Fotografia 2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97864" y="5385816"/>
            <a:ext cx="2807208" cy="914400"/>
          </a:xfrm>
          <a:prstGeom prst="rect">
            <a:avLst/>
          </a:prstGeom>
          <a:solidFill>
            <a:srgbClr val="E6E6E6"/>
          </a:solidFill>
          <a:ln w="9525">
            <a:solidFill>
              <a:srgbClr val="8C8C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" name="Connector 26"/>
          <p:cNvCxnSpPr/>
          <p:nvPr/>
        </p:nvCxnSpPr>
        <p:spPr>
          <a:xfrm>
            <a:off x="1197864" y="5385816"/>
            <a:ext cx="2807208" cy="914400"/>
          </a:xfrm>
          <a:prstGeom prst="line">
            <a:avLst/>
          </a:prstGeom>
          <a:ln w="9525">
            <a:solidFill>
              <a:srgbClr val="8C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1197864" y="5385816"/>
            <a:ext cx="2807208" cy="914400"/>
          </a:xfrm>
          <a:prstGeom prst="line">
            <a:avLst/>
          </a:prstGeom>
          <a:ln w="9525">
            <a:solidFill>
              <a:srgbClr val="8C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1197864" y="5715000"/>
            <a:ext cx="2807208" cy="256032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/>
            <a:r>
              <a:rPr sz="1000" b="0">
                <a:solidFill>
                  <a:srgbClr val="404040"/>
                </a:solidFill>
                <a:latin typeface="Calibri"/>
              </a:rPr>
              <a:t>Fotografia 3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197864" y="6437376"/>
            <a:ext cx="2807208" cy="320040"/>
          </a:xfrm>
          <a:prstGeom prst="rect">
            <a:avLst/>
          </a:prstGeom>
          <a:solidFill>
            <a:srgbClr val="E6E6E6"/>
          </a:solidFill>
          <a:ln w="9525">
            <a:solidFill>
              <a:srgbClr val="8C8C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97864" y="6464808"/>
            <a:ext cx="2807208" cy="265176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/>
            <a:r>
              <a:rPr sz="1000" b="0">
                <a:solidFill>
                  <a:srgbClr val="404040"/>
                </a:solidFill>
                <a:latin typeface="Calibri"/>
              </a:rPr>
              <a:t>Contactos · Redes sociais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184648" y="2459736"/>
            <a:ext cx="9957816" cy="457200"/>
          </a:xfrm>
          <a:prstGeom prst="rect">
            <a:avLst/>
          </a:prstGeom>
          <a:solidFill>
            <a:srgbClr val="E6E6E6"/>
          </a:solidFill>
          <a:ln w="9525">
            <a:solidFill>
              <a:srgbClr val="8C8C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321808" y="2551176"/>
            <a:ext cx="640080" cy="27432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1200" b="1">
                <a:solidFill>
                  <a:srgbClr val="404040"/>
                </a:solidFill>
                <a:latin typeface="Calibri"/>
              </a:rPr>
              <a:t>CAV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99048" y="2551176"/>
            <a:ext cx="8860536" cy="27432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1100" b="0">
                <a:solidFill>
                  <a:srgbClr val="404040"/>
                </a:solidFill>
                <a:latin typeface="Calibri"/>
              </a:rPr>
              <a:t>Início · O clube · Treinos e horários · Resultados · Galeria · Inscrições e contactos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84648" y="3054096"/>
            <a:ext cx="9957816" cy="292608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1600" b="1">
                <a:solidFill>
                  <a:srgbClr val="404040"/>
                </a:solidFill>
                <a:latin typeface="Calibri"/>
              </a:rPr>
              <a:t>Galeria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184648" y="3438144"/>
            <a:ext cx="3197352" cy="1005840"/>
          </a:xfrm>
          <a:prstGeom prst="rect">
            <a:avLst/>
          </a:prstGeom>
          <a:solidFill>
            <a:srgbClr val="E6E6E6"/>
          </a:solidFill>
          <a:ln w="9525">
            <a:solidFill>
              <a:srgbClr val="8C8C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7" name="Connector 36"/>
          <p:cNvCxnSpPr/>
          <p:nvPr/>
        </p:nvCxnSpPr>
        <p:spPr>
          <a:xfrm>
            <a:off x="5184648" y="3438144"/>
            <a:ext cx="3197351" cy="1005839"/>
          </a:xfrm>
          <a:prstGeom prst="line">
            <a:avLst/>
          </a:prstGeom>
          <a:ln w="9525">
            <a:solidFill>
              <a:srgbClr val="8C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5184648" y="3438144"/>
            <a:ext cx="3197351" cy="1005839"/>
          </a:xfrm>
          <a:prstGeom prst="line">
            <a:avLst/>
          </a:prstGeom>
          <a:ln w="9525">
            <a:solidFill>
              <a:srgbClr val="8C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5184648" y="3813048"/>
            <a:ext cx="3197352" cy="256032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/>
            <a:r>
              <a:rPr sz="1000" b="0">
                <a:solidFill>
                  <a:srgbClr val="404040"/>
                </a:solidFill>
                <a:latin typeface="Calibri"/>
              </a:rPr>
              <a:t>Fotografia 1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564880" y="3438144"/>
            <a:ext cx="3197352" cy="1005840"/>
          </a:xfrm>
          <a:prstGeom prst="rect">
            <a:avLst/>
          </a:prstGeom>
          <a:solidFill>
            <a:srgbClr val="E6E6E6"/>
          </a:solidFill>
          <a:ln w="9525">
            <a:solidFill>
              <a:srgbClr val="8C8C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1" name="Connector 40"/>
          <p:cNvCxnSpPr/>
          <p:nvPr/>
        </p:nvCxnSpPr>
        <p:spPr>
          <a:xfrm>
            <a:off x="8564880" y="3438144"/>
            <a:ext cx="3197352" cy="1005839"/>
          </a:xfrm>
          <a:prstGeom prst="line">
            <a:avLst/>
          </a:prstGeom>
          <a:ln w="9525">
            <a:solidFill>
              <a:srgbClr val="8C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8564880" y="3438144"/>
            <a:ext cx="3197352" cy="1005839"/>
          </a:xfrm>
          <a:prstGeom prst="line">
            <a:avLst/>
          </a:prstGeom>
          <a:ln w="9525">
            <a:solidFill>
              <a:srgbClr val="8C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8564880" y="3813048"/>
            <a:ext cx="3197352" cy="256032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/>
            <a:r>
              <a:rPr sz="1000" b="0">
                <a:solidFill>
                  <a:srgbClr val="404040"/>
                </a:solidFill>
                <a:latin typeface="Calibri"/>
              </a:rPr>
              <a:t>Fotografia 2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1945112" y="3438144"/>
            <a:ext cx="3197352" cy="1005840"/>
          </a:xfrm>
          <a:prstGeom prst="rect">
            <a:avLst/>
          </a:prstGeom>
          <a:solidFill>
            <a:srgbClr val="E6E6E6"/>
          </a:solidFill>
          <a:ln w="9525">
            <a:solidFill>
              <a:srgbClr val="8C8C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5" name="Connector 44"/>
          <p:cNvCxnSpPr/>
          <p:nvPr/>
        </p:nvCxnSpPr>
        <p:spPr>
          <a:xfrm>
            <a:off x="11945112" y="3438144"/>
            <a:ext cx="3197351" cy="1005839"/>
          </a:xfrm>
          <a:prstGeom prst="line">
            <a:avLst/>
          </a:prstGeom>
          <a:ln w="9525">
            <a:solidFill>
              <a:srgbClr val="8C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11945112" y="3438144"/>
            <a:ext cx="3197351" cy="1005839"/>
          </a:xfrm>
          <a:prstGeom prst="line">
            <a:avLst/>
          </a:prstGeom>
          <a:ln w="9525">
            <a:solidFill>
              <a:srgbClr val="8C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11945112" y="3813048"/>
            <a:ext cx="3197352" cy="256032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/>
            <a:r>
              <a:rPr sz="1000" b="0">
                <a:solidFill>
                  <a:srgbClr val="404040"/>
                </a:solidFill>
                <a:latin typeface="Calibri"/>
              </a:rPr>
              <a:t>Fotografia 3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184648" y="4581144"/>
            <a:ext cx="3197352" cy="1005840"/>
          </a:xfrm>
          <a:prstGeom prst="rect">
            <a:avLst/>
          </a:prstGeom>
          <a:solidFill>
            <a:srgbClr val="E6E6E6"/>
          </a:solidFill>
          <a:ln w="9525">
            <a:solidFill>
              <a:srgbClr val="8C8C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9" name="Connector 48"/>
          <p:cNvCxnSpPr/>
          <p:nvPr/>
        </p:nvCxnSpPr>
        <p:spPr>
          <a:xfrm>
            <a:off x="5184648" y="4581144"/>
            <a:ext cx="3197351" cy="1005839"/>
          </a:xfrm>
          <a:prstGeom prst="line">
            <a:avLst/>
          </a:prstGeom>
          <a:ln w="9525">
            <a:solidFill>
              <a:srgbClr val="8C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5184648" y="4581144"/>
            <a:ext cx="3197351" cy="1005839"/>
          </a:xfrm>
          <a:prstGeom prst="line">
            <a:avLst/>
          </a:prstGeom>
          <a:ln w="9525">
            <a:solidFill>
              <a:srgbClr val="8C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5184648" y="4956048"/>
            <a:ext cx="3197352" cy="256032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/>
            <a:r>
              <a:rPr sz="1000" b="0">
                <a:solidFill>
                  <a:srgbClr val="404040"/>
                </a:solidFill>
                <a:latin typeface="Calibri"/>
              </a:rPr>
              <a:t>Fotografia 4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564880" y="4581144"/>
            <a:ext cx="3197352" cy="1005840"/>
          </a:xfrm>
          <a:prstGeom prst="rect">
            <a:avLst/>
          </a:prstGeom>
          <a:solidFill>
            <a:srgbClr val="E6E6E6"/>
          </a:solidFill>
          <a:ln w="9525">
            <a:solidFill>
              <a:srgbClr val="8C8C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3" name="Connector 52"/>
          <p:cNvCxnSpPr/>
          <p:nvPr/>
        </p:nvCxnSpPr>
        <p:spPr>
          <a:xfrm>
            <a:off x="8564880" y="4581144"/>
            <a:ext cx="3197352" cy="1005839"/>
          </a:xfrm>
          <a:prstGeom prst="line">
            <a:avLst/>
          </a:prstGeom>
          <a:ln w="9525">
            <a:solidFill>
              <a:srgbClr val="8C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8564880" y="4581144"/>
            <a:ext cx="3197352" cy="1005839"/>
          </a:xfrm>
          <a:prstGeom prst="line">
            <a:avLst/>
          </a:prstGeom>
          <a:ln w="9525">
            <a:solidFill>
              <a:srgbClr val="8C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8564880" y="4956048"/>
            <a:ext cx="3197352" cy="256032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/>
            <a:r>
              <a:rPr sz="1000" b="0">
                <a:solidFill>
                  <a:srgbClr val="404040"/>
                </a:solidFill>
                <a:latin typeface="Calibri"/>
              </a:rPr>
              <a:t>Fotografia 5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1945112" y="4581144"/>
            <a:ext cx="3197352" cy="1005840"/>
          </a:xfrm>
          <a:prstGeom prst="rect">
            <a:avLst/>
          </a:prstGeom>
          <a:solidFill>
            <a:srgbClr val="E6E6E6"/>
          </a:solidFill>
          <a:ln w="9525">
            <a:solidFill>
              <a:srgbClr val="8C8C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" name="Connector 56"/>
          <p:cNvCxnSpPr/>
          <p:nvPr/>
        </p:nvCxnSpPr>
        <p:spPr>
          <a:xfrm>
            <a:off x="11945112" y="4581144"/>
            <a:ext cx="3197351" cy="1005839"/>
          </a:xfrm>
          <a:prstGeom prst="line">
            <a:avLst/>
          </a:prstGeom>
          <a:ln w="9525">
            <a:solidFill>
              <a:srgbClr val="8C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11945112" y="4581144"/>
            <a:ext cx="3197351" cy="1005839"/>
          </a:xfrm>
          <a:prstGeom prst="line">
            <a:avLst/>
          </a:prstGeom>
          <a:ln w="9525">
            <a:solidFill>
              <a:srgbClr val="8C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11945112" y="4956048"/>
            <a:ext cx="3197352" cy="256032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/>
            <a:r>
              <a:rPr sz="1000" b="0">
                <a:solidFill>
                  <a:srgbClr val="404040"/>
                </a:solidFill>
                <a:latin typeface="Calibri"/>
              </a:rPr>
              <a:t>Fotografia 6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184648" y="5769864"/>
            <a:ext cx="9957816" cy="320040"/>
          </a:xfrm>
          <a:prstGeom prst="rect">
            <a:avLst/>
          </a:prstGeom>
          <a:solidFill>
            <a:srgbClr val="E6E6E6"/>
          </a:solidFill>
          <a:ln w="9525">
            <a:solidFill>
              <a:srgbClr val="8C8C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184648" y="5797296"/>
            <a:ext cx="9957816" cy="265176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/>
            <a:r>
              <a:rPr sz="1000" b="0">
                <a:solidFill>
                  <a:srgbClr val="404040"/>
                </a:solidFill>
                <a:latin typeface="Calibri"/>
              </a:rPr>
              <a:t>Contactos · Ligações · Redes sociais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gina6-text-1"/>
          <p:cNvSpPr/>
          <p:nvPr/>
        </p:nvSpPr>
        <p:spPr>
          <a:xfrm>
            <a:off x="1016000" y="571500"/>
            <a:ext cx="1143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3000" dirty="0">
                <a:solidFill>
                  <a:srgbClr val="22222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Página 6: Inscrições e contactos</a:t>
            </a:r>
            <a:endParaRPr lang="en-US" sz="3000" dirty="0"/>
          </a:p>
        </p:txBody>
      </p:sp>
      <p:sp>
        <p:nvSpPr>
          <p:cNvPr id="3" name="pagina6-text-2"/>
          <p:cNvSpPr/>
          <p:nvPr/>
        </p:nvSpPr>
        <p:spPr>
          <a:xfrm>
            <a:off x="1016000" y="1206500"/>
            <a:ext cx="7620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300" dirty="0">
                <a:solidFill>
                  <a:srgbClr val="5F66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Primeiro o telemóvel: uma coluna. Depois o computador: os mesmos blocos, pela mesma ordem.</a:t>
            </a:r>
            <a:endParaRPr lang="en-US" sz="1300" dirty="0"/>
          </a:p>
        </p:txBody>
      </p:sp>
      <p:sp>
        <p:nvSpPr>
          <p:cNvPr id="4" name="pagina6-text-3"/>
          <p:cNvSpPr/>
          <p:nvPr/>
        </p:nvSpPr>
        <p:spPr>
          <a:xfrm>
            <a:off x="1016000" y="1651000"/>
            <a:ext cx="3048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900" dirty="0">
                <a:solidFill>
                  <a:srgbClr val="22222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Telemóvel</a:t>
            </a:r>
            <a:endParaRPr lang="en-US" sz="1900" dirty="0"/>
          </a:p>
        </p:txBody>
      </p:sp>
      <p:sp>
        <p:nvSpPr>
          <p:cNvPr id="5" name="pagina6-shape-4"/>
          <p:cNvSpPr/>
          <p:nvPr/>
        </p:nvSpPr>
        <p:spPr>
          <a:xfrm>
            <a:off x="1016000" y="2095500"/>
            <a:ext cx="3175000" cy="5588000"/>
          </a:xfrm>
          <a:prstGeom prst="roundRect">
            <a:avLst>
              <a:gd name="adj" fmla="val 9600"/>
            </a:avLst>
          </a:prstGeom>
          <a:ln w="38100">
            <a:solidFill>
              <a:srgbClr val="404040"/>
            </a:solidFill>
            <a:prstDash val="solid"/>
          </a:ln>
        </p:spPr>
        <p:txBody>
          <a:bodyPr/>
          <a:p/>
        </p:txBody>
      </p:sp>
      <p:sp>
        <p:nvSpPr>
          <p:cNvPr id="6" name="pagina6-text-5"/>
          <p:cNvSpPr/>
          <p:nvPr/>
        </p:nvSpPr>
        <p:spPr>
          <a:xfrm>
            <a:off x="4953000" y="1651000"/>
            <a:ext cx="3810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900" dirty="0">
                <a:solidFill>
                  <a:srgbClr val="22222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Computador</a:t>
            </a:r>
            <a:endParaRPr lang="en-US" sz="1900" dirty="0"/>
          </a:p>
        </p:txBody>
      </p:sp>
      <p:sp>
        <p:nvSpPr>
          <p:cNvPr id="7" name="pagina6-shape-6"/>
          <p:cNvSpPr/>
          <p:nvPr/>
        </p:nvSpPr>
        <p:spPr>
          <a:xfrm>
            <a:off x="4953000" y="2095500"/>
            <a:ext cx="10414000" cy="5588000"/>
          </a:xfrm>
          <a:prstGeom prst="rect">
            <a:avLst/>
          </a:prstGeom>
          <a:ln w="38100">
            <a:solidFill>
              <a:srgbClr val="404040"/>
            </a:solidFill>
            <a:prstDash val="solid"/>
          </a:ln>
        </p:spPr>
        <p:txBody>
          <a:bodyPr/>
          <a:p/>
        </p:txBody>
      </p:sp>
      <p:sp>
        <p:nvSpPr>
          <p:cNvPr id="8" name="pagina6-shape-7"/>
          <p:cNvSpPr/>
          <p:nvPr/>
        </p:nvSpPr>
        <p:spPr>
          <a:xfrm>
            <a:off x="4953000" y="2095500"/>
            <a:ext cx="10414000" cy="228600"/>
          </a:xfrm>
          <a:prstGeom prst="rect">
            <a:avLst/>
          </a:prstGeom>
          <a:solidFill>
            <a:srgbClr val="F2F4F7"/>
          </a:solidFill>
          <a:ln/>
        </p:spPr>
        <p:txBody>
          <a:bodyPr/>
          <a:p/>
        </p:txBody>
      </p:sp>
      <p:sp>
        <p:nvSpPr>
          <p:cNvPr id="9" name="pagina6-text-8"/>
          <p:cNvSpPr/>
          <p:nvPr/>
        </p:nvSpPr>
        <p:spPr>
          <a:xfrm>
            <a:off x="1016000" y="8572500"/>
            <a:ext cx="12446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100" dirty="0">
                <a:solidFill>
                  <a:srgbClr val="5F66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Desenvolvimento Web e Móvel · UC02833 Conceber aplicações para a web na vertente frontend · Semana 2 · Aula 3 · Modelo</a:t>
            </a:r>
            <a:endParaRPr lang="en-US" sz="1100" dirty="0"/>
          </a:p>
        </p:txBody>
      </p:sp>
      <p:sp>
        <p:nvSpPr>
          <p:cNvPr id="10" name="pagina6-text-9"/>
          <p:cNvSpPr/>
          <p:nvPr/>
        </p:nvSpPr>
        <p:spPr>
          <a:xfrm>
            <a:off x="14986000" y="8572500"/>
            <a:ext cx="508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altLang="en-US" sz="1100" dirty="0">
                <a:solidFill>
                  <a:srgbClr val="5F66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10</a:t>
            </a:r>
            <a:endParaRPr lang="en-US" sz="1100" dirty="0"/>
          </a:p>
        </p:txBody>
      </p:sp>
      <p:sp>
        <p:nvSpPr>
          <p:cNvPr id="11" name="Rectangle 10"/>
          <p:cNvSpPr/>
          <p:nvPr/>
        </p:nvSpPr>
        <p:spPr>
          <a:xfrm>
            <a:off x="1197864" y="2459736"/>
            <a:ext cx="2807208" cy="457200"/>
          </a:xfrm>
          <a:prstGeom prst="rect">
            <a:avLst/>
          </a:prstGeom>
          <a:solidFill>
            <a:srgbClr val="E6E6E6"/>
          </a:solidFill>
          <a:ln w="9525">
            <a:solidFill>
              <a:srgbClr val="8C8C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89304" y="2551176"/>
            <a:ext cx="640080" cy="27432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1200" b="1">
                <a:solidFill>
                  <a:srgbClr val="404040"/>
                </a:solidFill>
                <a:latin typeface="Calibri"/>
              </a:rPr>
              <a:t>CAV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66160" y="2542032"/>
            <a:ext cx="301752" cy="301752"/>
          </a:xfrm>
          <a:prstGeom prst="rect">
            <a:avLst/>
          </a:prstGeom>
          <a:solidFill>
            <a:srgbClr val="FFFFFF"/>
          </a:solidFill>
          <a:ln w="9525">
            <a:solidFill>
              <a:srgbClr val="8C8C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30168" y="2615184"/>
            <a:ext cx="173736" cy="36576"/>
          </a:xfrm>
          <a:prstGeom prst="rect">
            <a:avLst/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30168" y="2688336"/>
            <a:ext cx="173736" cy="36576"/>
          </a:xfrm>
          <a:prstGeom prst="rect">
            <a:avLst/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30168" y="2761488"/>
            <a:ext cx="173736" cy="36576"/>
          </a:xfrm>
          <a:prstGeom prst="rect">
            <a:avLst/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97864" y="3008376"/>
            <a:ext cx="2807208" cy="292608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1400" b="1">
                <a:solidFill>
                  <a:srgbClr val="404040"/>
                </a:solidFill>
                <a:latin typeface="Calibri"/>
              </a:rPr>
              <a:t>Inscrições e contactos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97864" y="3392424"/>
            <a:ext cx="914400" cy="27432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1000" b="0">
                <a:solidFill>
                  <a:srgbClr val="404040"/>
                </a:solidFill>
                <a:latin typeface="Calibri"/>
              </a:rPr>
              <a:t>Nome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112264" y="3392424"/>
            <a:ext cx="1892808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8C8C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97864" y="3758184"/>
            <a:ext cx="914400" cy="27432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1000" b="0">
                <a:solidFill>
                  <a:srgbClr val="404040"/>
                </a:solidFill>
                <a:latin typeface="Calibri"/>
              </a:rPr>
              <a:t>Email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112264" y="3758184"/>
            <a:ext cx="1892808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8C8C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97864" y="4123944"/>
            <a:ext cx="914400" cy="27432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1000" b="0">
                <a:solidFill>
                  <a:srgbClr val="404040"/>
                </a:solidFill>
                <a:latin typeface="Calibri"/>
              </a:rPr>
              <a:t>Escalão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112264" y="4123944"/>
            <a:ext cx="1892808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8C8C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97864" y="4489704"/>
            <a:ext cx="2807208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97864" y="4489704"/>
            <a:ext cx="2807208" cy="27432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/>
            <a:r>
              <a:rPr sz="1000" b="1">
                <a:solidFill>
                  <a:srgbClr val="404040"/>
                </a:solidFill>
                <a:latin typeface="Calibri"/>
              </a:rPr>
              <a:t>Enviar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97864" y="4901184"/>
            <a:ext cx="2807208" cy="914400"/>
          </a:xfrm>
          <a:prstGeom prst="rect">
            <a:avLst/>
          </a:prstGeom>
          <a:solidFill>
            <a:srgbClr val="E6E6E6"/>
          </a:solidFill>
          <a:ln w="9525">
            <a:solidFill>
              <a:srgbClr val="8C8C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" name="Connector 26"/>
          <p:cNvCxnSpPr/>
          <p:nvPr/>
        </p:nvCxnSpPr>
        <p:spPr>
          <a:xfrm>
            <a:off x="1197864" y="4901184"/>
            <a:ext cx="2807208" cy="914400"/>
          </a:xfrm>
          <a:prstGeom prst="line">
            <a:avLst/>
          </a:prstGeom>
          <a:ln w="9525">
            <a:solidFill>
              <a:srgbClr val="8C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1197864" y="4901184"/>
            <a:ext cx="2807208" cy="914400"/>
          </a:xfrm>
          <a:prstGeom prst="line">
            <a:avLst/>
          </a:prstGeom>
          <a:ln w="9525">
            <a:solidFill>
              <a:srgbClr val="8C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1197864" y="5230368"/>
            <a:ext cx="2807208" cy="256032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/>
            <a:r>
              <a:rPr sz="1000" b="0">
                <a:solidFill>
                  <a:srgbClr val="404040"/>
                </a:solidFill>
                <a:latin typeface="Calibri"/>
              </a:rPr>
              <a:t>Mapa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197864" y="5907024"/>
            <a:ext cx="2526487" cy="73152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197864" y="6071616"/>
            <a:ext cx="1684324" cy="73152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197864" y="6272784"/>
            <a:ext cx="2807208" cy="320040"/>
          </a:xfrm>
          <a:prstGeom prst="rect">
            <a:avLst/>
          </a:prstGeom>
          <a:solidFill>
            <a:srgbClr val="E6E6E6"/>
          </a:solidFill>
          <a:ln w="9525">
            <a:solidFill>
              <a:srgbClr val="8C8C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97864" y="6300216"/>
            <a:ext cx="2807208" cy="265176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/>
            <a:r>
              <a:rPr sz="1000" b="0">
                <a:solidFill>
                  <a:srgbClr val="404040"/>
                </a:solidFill>
                <a:latin typeface="Calibri"/>
              </a:rPr>
              <a:t>Contactos · Redes sociais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184648" y="2459736"/>
            <a:ext cx="9957816" cy="457200"/>
          </a:xfrm>
          <a:prstGeom prst="rect">
            <a:avLst/>
          </a:prstGeom>
          <a:solidFill>
            <a:srgbClr val="E6E6E6"/>
          </a:solidFill>
          <a:ln w="9525">
            <a:solidFill>
              <a:srgbClr val="8C8C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321808" y="2551176"/>
            <a:ext cx="640080" cy="27432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1200" b="1">
                <a:solidFill>
                  <a:srgbClr val="404040"/>
                </a:solidFill>
                <a:latin typeface="Calibri"/>
              </a:rPr>
              <a:t>CAV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099048" y="2551176"/>
            <a:ext cx="8860536" cy="27432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1100" b="0">
                <a:solidFill>
                  <a:srgbClr val="404040"/>
                </a:solidFill>
                <a:latin typeface="Calibri"/>
              </a:rPr>
              <a:t>Início · O clube · Treinos e horários · Resultados · Galeria · Inscrições e contactos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84648" y="3054096"/>
            <a:ext cx="9957816" cy="292608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1600" b="1">
                <a:solidFill>
                  <a:srgbClr val="404040"/>
                </a:solidFill>
                <a:latin typeface="Calibri"/>
              </a:rPr>
              <a:t>Inscrições e contactos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184648" y="3438144"/>
            <a:ext cx="914400" cy="27432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1000" b="0">
                <a:solidFill>
                  <a:srgbClr val="404040"/>
                </a:solidFill>
                <a:latin typeface="Calibri"/>
              </a:rPr>
              <a:t>Nome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099048" y="3438144"/>
            <a:ext cx="3881628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8C8C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184648" y="3822191"/>
            <a:ext cx="914400" cy="27432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1000" b="0">
                <a:solidFill>
                  <a:srgbClr val="404040"/>
                </a:solidFill>
                <a:latin typeface="Calibri"/>
              </a:rPr>
              <a:t>Email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099048" y="3822191"/>
            <a:ext cx="3881628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8C8C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184648" y="4206240"/>
            <a:ext cx="914400" cy="27432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1000" b="0">
                <a:solidFill>
                  <a:srgbClr val="404040"/>
                </a:solidFill>
                <a:latin typeface="Calibri"/>
              </a:rPr>
              <a:t>Escalão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099048" y="4206240"/>
            <a:ext cx="3881628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8C8C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184648" y="4590288"/>
            <a:ext cx="146304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184648" y="4590288"/>
            <a:ext cx="1463040" cy="27432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/>
            <a:r>
              <a:rPr sz="1000" b="1">
                <a:solidFill>
                  <a:srgbClr val="404040"/>
                </a:solidFill>
                <a:latin typeface="Calibri"/>
              </a:rPr>
              <a:t>Enviar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0346436" y="3438144"/>
            <a:ext cx="4796028" cy="1188720"/>
          </a:xfrm>
          <a:prstGeom prst="rect">
            <a:avLst/>
          </a:prstGeom>
          <a:solidFill>
            <a:srgbClr val="E6E6E6"/>
          </a:solidFill>
          <a:ln w="9525">
            <a:solidFill>
              <a:srgbClr val="8C8C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7" name="Connector 46"/>
          <p:cNvCxnSpPr/>
          <p:nvPr/>
        </p:nvCxnSpPr>
        <p:spPr>
          <a:xfrm>
            <a:off x="10346436" y="3438144"/>
            <a:ext cx="4796027" cy="1188720"/>
          </a:xfrm>
          <a:prstGeom prst="line">
            <a:avLst/>
          </a:prstGeom>
          <a:ln w="9525">
            <a:solidFill>
              <a:srgbClr val="8C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10346436" y="3438144"/>
            <a:ext cx="4796027" cy="1188720"/>
          </a:xfrm>
          <a:prstGeom prst="line">
            <a:avLst/>
          </a:prstGeom>
          <a:ln w="9525">
            <a:solidFill>
              <a:srgbClr val="8C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10346436" y="3904488"/>
            <a:ext cx="4796028" cy="256032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/>
            <a:r>
              <a:rPr sz="1000" b="0">
                <a:solidFill>
                  <a:srgbClr val="404040"/>
                </a:solidFill>
                <a:latin typeface="Calibri"/>
              </a:rPr>
              <a:t>Mapa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0346436" y="4764024"/>
            <a:ext cx="4316425" cy="73152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10346436" y="4928616"/>
            <a:ext cx="2877616" cy="73152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5184648" y="5266944"/>
            <a:ext cx="9957816" cy="320040"/>
          </a:xfrm>
          <a:prstGeom prst="rect">
            <a:avLst/>
          </a:prstGeom>
          <a:solidFill>
            <a:srgbClr val="E6E6E6"/>
          </a:solidFill>
          <a:ln w="9525">
            <a:solidFill>
              <a:srgbClr val="8C8C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184648" y="5294376"/>
            <a:ext cx="9957816" cy="265176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/>
            <a:r>
              <a:rPr sz="1000" b="0">
                <a:solidFill>
                  <a:srgbClr val="404040"/>
                </a:solidFill>
                <a:latin typeface="Calibri"/>
              </a:rPr>
              <a:t>Contactos · Ligações · Redes sociais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eedback-text-1"/>
          <p:cNvSpPr/>
          <p:nvPr/>
        </p:nvSpPr>
        <p:spPr>
          <a:xfrm>
            <a:off x="1016000" y="571500"/>
            <a:ext cx="1143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3000" dirty="0">
                <a:solidFill>
                  <a:srgbClr val="22222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Feedback da galeria</a:t>
            </a:r>
            <a:endParaRPr lang="en-US" sz="3000" dirty="0"/>
          </a:p>
        </p:txBody>
      </p:sp>
      <p:sp>
        <p:nvSpPr>
          <p:cNvPr id="3" name="feedback-shape-2"/>
          <p:cNvSpPr/>
          <p:nvPr/>
        </p:nvSpPr>
        <p:spPr>
          <a:xfrm>
            <a:off x="1016000" y="1397000"/>
            <a:ext cx="14224000" cy="1841500"/>
          </a:xfrm>
          <a:prstGeom prst="rect">
            <a:avLst/>
          </a:prstGeom>
          <a:solidFill>
            <a:srgbClr val="F2F4F7"/>
          </a:solidFill>
          <a:ln/>
        </p:spPr>
        <p:txBody>
          <a:bodyPr/>
          <a:p/>
        </p:txBody>
      </p:sp>
      <p:sp>
        <p:nvSpPr>
          <p:cNvPr id="4" name="feedback-text-3"/>
          <p:cNvSpPr/>
          <p:nvPr/>
        </p:nvSpPr>
        <p:spPr>
          <a:xfrm>
            <a:off x="1333500" y="1587500"/>
            <a:ext cx="13335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altLang="en-US" sz="1800" b="1" dirty="0">
                <a:solidFill>
                  <a:srgbClr val="22222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Perguntas de verificação</a:t>
            </a:r>
            <a:endParaRPr lang="en-US" sz="1800" dirty="0"/>
          </a:p>
          <a:p>
            <a:pPr algn="l" marL="285750" indent="-285750">
              <a:lnSpc>
                <a:spcPts val="2520"/>
              </a:lnSpc>
              <a:spcBef>
                <a:spcPts val="10"/>
              </a:spcBef>
              <a:buSzPct val="100000"/>
              <a:buChar char="•"/>
            </a:pPr>
            <a:r>
              <a:rPr lang="en-US" altLang="en-US" sz="1800" dirty="0">
                <a:solidFill>
                  <a:srgbClr val="22222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Cada tarefa do brief tem um bloco na página inicial?</a:t>
            </a:r>
            <a:endParaRPr lang="en-US" sz="1800" dirty="0"/>
          </a:p>
          <a:p>
            <a:pPr algn="l" marL="285750" indent="-285750">
              <a:lnSpc>
                <a:spcPts val="2520"/>
              </a:lnSpc>
              <a:spcBef>
                <a:spcPts val="10"/>
              </a:spcBef>
              <a:buSzPct val="100000"/>
              <a:buChar char="•"/>
            </a:pPr>
            <a:r>
              <a:rPr lang="en-US" altLang="en-US" sz="1800" dirty="0">
                <a:solidFill>
                  <a:srgbClr val="22222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 telemóvel há só uma coluna e o menu está no ☰?</a:t>
            </a:r>
            <a:endParaRPr lang="en-US" sz="1800" dirty="0"/>
          </a:p>
          <a:p>
            <a:pPr algn="l" marL="285750" indent="-285750">
              <a:lnSpc>
                <a:spcPts val="2520"/>
              </a:lnSpc>
              <a:spcBef>
                <a:spcPts val="10"/>
              </a:spcBef>
              <a:buSzPct val="100000"/>
              <a:buChar char="•"/>
            </a:pPr>
            <a:r>
              <a:rPr lang="en-US" altLang="en-US" sz="1800" dirty="0">
                <a:solidFill>
                  <a:srgbClr val="22222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As duas versões têm os mesmos blocos pela mesma ordem?</a:t>
            </a:r>
            <a:endParaRPr lang="en-US" sz="1800" dirty="0"/>
          </a:p>
          <a:p>
            <a:pPr algn="l" marL="285750" indent="-285750">
              <a:lnSpc>
                <a:spcPts val="2520"/>
              </a:lnSpc>
              <a:spcBef>
                <a:spcPts val="10"/>
              </a:spcBef>
              <a:buSzPct val="100000"/>
              <a:buChar char="•"/>
            </a:pPr>
            <a:r>
              <a:rPr lang="en-US" altLang="en-US" sz="1800" dirty="0">
                <a:solidFill>
                  <a:srgbClr val="22222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Está em baixa fidelidade: só cinzentos, sem fotografias?</a:t>
            </a:r>
            <a:endParaRPr lang="en-US" sz="1800" dirty="0"/>
          </a:p>
        </p:txBody>
      </p:sp>
      <p:graphicFrame>
        <p:nvGraphicFramePr>
          <p:cNvPr id="12" name="feedback-table-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16000" y="3683000"/>
          <a:ext cx="14224000" cy="3810000"/>
        </p:xfrm>
        <a:graphic>
          <a:graphicData uri="http://schemas.openxmlformats.org/drawingml/2006/table">
            <a:tbl>
              <a:tblPr/>
              <a:tblGrid>
                <a:gridCol w="1422400"/>
                <a:gridCol w="4267200"/>
                <a:gridCol w="4267200"/>
                <a:gridCol w="4267200"/>
              </a:tblGrid>
              <a:tr h="5715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600" b="1" dirty="0">
                          <a:solidFill>
                            <a:srgbClr val="22222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Visita</a:t>
                      </a:r>
                      <a:endParaRPr lang="en-US" sz="16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77800" marR="177800" marT="127000" marB="127000" anchor="ctr">
                    <a:lnL w="254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600" b="1" dirty="0">
                          <a:solidFill>
                            <a:srgbClr val="22222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Gosto…</a:t>
                      </a:r>
                      <a:endParaRPr lang="en-US" sz="16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77800" marR="177800" marT="127000" marB="127000" anchor="ctr">
                    <a:lnL w="1270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600" b="1" dirty="0">
                          <a:solidFill>
                            <a:srgbClr val="22222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Pergunto…</a:t>
                      </a:r>
                      <a:endParaRPr lang="en-US" sz="16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77800" marR="177800" marT="127000" marB="127000" anchor="ctr">
                    <a:lnL w="1270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600" b="1" dirty="0">
                          <a:solidFill>
                            <a:srgbClr val="22222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Sugiro…</a:t>
                      </a:r>
                      <a:endParaRPr lang="en-US" sz="16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77800" marR="177800" marT="127000" marB="127000" anchor="ctr">
                    <a:lnL w="1270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161925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600" dirty="0">
                          <a:solidFill>
                            <a:srgbClr val="22222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Visita 1</a:t>
                      </a:r>
                      <a:endParaRPr lang="en-US" sz="16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77800" marR="177800" marT="127000" marB="127000" anchor="ctr">
                    <a:lnL w="254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6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77800" marR="177800" marT="127000" marB="127000" anchor="ctr">
                    <a:lnL w="1270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6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77800" marR="177800" marT="127000" marB="127000" anchor="ctr">
                    <a:lnL w="1270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6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77800" marR="177800" marT="127000" marB="127000" anchor="ctr">
                    <a:lnL w="1270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61925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600" dirty="0">
                          <a:solidFill>
                            <a:srgbClr val="22222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Visita 2</a:t>
                      </a:r>
                      <a:endParaRPr lang="en-US" sz="16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77800" marR="177800" marT="127000" marB="127000" anchor="ctr">
                    <a:lnL w="254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6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77800" marR="177800" marT="127000" marB="127000" anchor="ctr">
                    <a:lnL w="1270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6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77800" marR="177800" marT="127000" marB="127000" anchor="ctr">
                    <a:lnL w="1270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6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77800" marR="177800" marT="127000" marB="127000" anchor="ctr">
                    <a:lnL w="1270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feedback-text-5"/>
          <p:cNvSpPr/>
          <p:nvPr/>
        </p:nvSpPr>
        <p:spPr>
          <a:xfrm>
            <a:off x="1016000" y="8572500"/>
            <a:ext cx="12446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100" dirty="0">
                <a:solidFill>
                  <a:srgbClr val="5F66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Desenvolvimento Web e Móvel · UC02833 Conceber aplicações para a web na vertente frontend · Semana 2 · Aula 3 · Modelo</a:t>
            </a:r>
            <a:endParaRPr lang="en-US" sz="1100" dirty="0"/>
          </a:p>
        </p:txBody>
      </p:sp>
      <p:sp>
        <p:nvSpPr>
          <p:cNvPr id="7" name="feedback-text-6"/>
          <p:cNvSpPr/>
          <p:nvPr/>
        </p:nvSpPr>
        <p:spPr>
          <a:xfrm>
            <a:off x="14986000" y="8572500"/>
            <a:ext cx="508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altLang="en-US" sz="1100" dirty="0">
                <a:solidFill>
                  <a:srgbClr val="5F66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udar-text-1"/>
          <p:cNvSpPr/>
          <p:nvPr/>
        </p:nvSpPr>
        <p:spPr>
          <a:xfrm>
            <a:off x="1016000" y="571500"/>
            <a:ext cx="1143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3000" dirty="0">
                <a:solidFill>
                  <a:srgbClr val="22222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 que vamos mudar</a:t>
            </a:r>
            <a:endParaRPr lang="en-US" sz="3000" dirty="0"/>
          </a:p>
        </p:txBody>
      </p:sp>
      <p:sp>
        <p:nvSpPr>
          <p:cNvPr id="3" name="mudar-text-2"/>
          <p:cNvSpPr/>
          <p:nvPr/>
        </p:nvSpPr>
        <p:spPr>
          <a:xfrm>
            <a:off x="1016000" y="1524000"/>
            <a:ext cx="13970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200" dirty="0">
                <a:solidFill>
                  <a:srgbClr val="22222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Depois de ler o feedback da galeria, escreve uma ou duas mudanças e a razão de cada uma.</a:t>
            </a:r>
            <a:endParaRPr lang="en-US" sz="2200" dirty="0"/>
          </a:p>
        </p:txBody>
      </p:sp>
      <p:sp>
        <p:nvSpPr>
          <p:cNvPr id="4" name="mudar-shape-3"/>
          <p:cNvSpPr/>
          <p:nvPr/>
        </p:nvSpPr>
        <p:spPr>
          <a:xfrm>
            <a:off x="1016000" y="2413000"/>
            <a:ext cx="14224000" cy="1841500"/>
          </a:xfrm>
          <a:prstGeom prst="rect">
            <a:avLst/>
          </a:prstGeom>
          <a:solidFill>
            <a:srgbClr val="F2F4F7"/>
          </a:solidFill>
          <a:ln/>
        </p:spPr>
        <p:txBody>
          <a:bodyPr/>
          <a:p/>
        </p:txBody>
      </p:sp>
      <p:sp>
        <p:nvSpPr>
          <p:cNvPr id="5" name="mudar-text-4"/>
          <p:cNvSpPr/>
          <p:nvPr/>
        </p:nvSpPr>
        <p:spPr>
          <a:xfrm>
            <a:off x="1397000" y="2794000"/>
            <a:ext cx="13208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300" dirty="0">
                <a:solidFill>
                  <a:srgbClr val="22222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Mudança 1: pôr o menu visível no computador porque na versão computador ainda estava o ☰.</a:t>
            </a:r>
            <a:endParaRPr lang="en-US" sz="2300" dirty="0"/>
          </a:p>
        </p:txBody>
      </p:sp>
      <p:sp>
        <p:nvSpPr>
          <p:cNvPr id="6" name="mudar-shape-5"/>
          <p:cNvSpPr/>
          <p:nvPr/>
        </p:nvSpPr>
        <p:spPr>
          <a:xfrm>
            <a:off x="1016000" y="4699000"/>
            <a:ext cx="14224000" cy="1841500"/>
          </a:xfrm>
          <a:prstGeom prst="rect">
            <a:avLst/>
          </a:prstGeom>
          <a:solidFill>
            <a:srgbClr val="F2F4F7"/>
          </a:solidFill>
          <a:ln/>
        </p:spPr>
        <p:txBody>
          <a:bodyPr/>
          <a:p/>
        </p:txBody>
      </p:sp>
      <p:sp>
        <p:nvSpPr>
          <p:cNvPr id="7" name="mudar-text-6"/>
          <p:cNvSpPr/>
          <p:nvPr/>
        </p:nvSpPr>
        <p:spPr>
          <a:xfrm>
            <a:off x="1397000" y="5080000"/>
            <a:ext cx="13208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300" dirty="0">
                <a:solidFill>
                  <a:srgbClr val="22222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Mudança 2: pôr o cartão Resultados antes de Inscrições porque é a tarefa mais usada.</a:t>
            </a:r>
            <a:endParaRPr lang="en-US" sz="2300" dirty="0"/>
          </a:p>
        </p:txBody>
      </p:sp>
      <p:sp>
        <p:nvSpPr>
          <p:cNvPr id="8" name="mudar-text-7"/>
          <p:cNvSpPr/>
          <p:nvPr/>
        </p:nvSpPr>
        <p:spPr>
          <a:xfrm>
            <a:off x="1016000" y="8572500"/>
            <a:ext cx="12446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100" dirty="0">
                <a:solidFill>
                  <a:srgbClr val="5F66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Desenvolvimento Web e Móvel · UC02833 Conceber aplicações para a web na vertente frontend · Semana 2 · Aula 3 · Modelo</a:t>
            </a:r>
            <a:endParaRPr lang="en-US" sz="1100" dirty="0"/>
          </a:p>
        </p:txBody>
      </p:sp>
      <p:sp>
        <p:nvSpPr>
          <p:cNvPr id="9" name="mudar-text-8"/>
          <p:cNvSpPr/>
          <p:nvPr/>
        </p:nvSpPr>
        <p:spPr>
          <a:xfrm>
            <a:off x="14986000" y="8572500"/>
            <a:ext cx="508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altLang="en-US" sz="1100" dirty="0">
                <a:solidFill>
                  <a:srgbClr val="5F66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Manus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Wireframes do Projeto Web</dc:title>
  <dc:subject>Wireframes do Projeto Web</dc:subject>
  <dc:creator>Manus</dc:creator>
  <cp:lastModifiedBy>Manus</cp:lastModifiedBy>
  <cp:revision>1</cp:revision>
  <dcterms:created xsi:type="dcterms:W3CDTF">2026-09-21T14:39:07Z</dcterms:created>
  <dcterms:modified xsi:type="dcterms:W3CDTF">2026-09-21T14:39:07Z</dcterms:modified>
</cp:coreProperties>
</file>